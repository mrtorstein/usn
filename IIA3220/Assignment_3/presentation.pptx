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6" r:id="rId9"/>
    <p:sldId id="264" r:id="rId10"/>
    <p:sldId id="265" r:id="rId11"/>
    <p:sldId id="257" r:id="rId12"/>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612" y="54"/>
      </p:cViewPr>
      <p:guideLst/>
    </p:cSldViewPr>
  </p:slideViewPr>
  <p:notesTextViewPr>
    <p:cViewPr>
      <p:scale>
        <a:sx n="3" d="2"/>
        <a:sy n="3" d="2"/>
      </p:scale>
      <p:origin x="0" y="-5"/>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947F0FA-FEB1-ED8B-C14F-8FFD703368D7}"/>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a:extLst>
              <a:ext uri="{FF2B5EF4-FFF2-40B4-BE49-F238E27FC236}">
                <a16:creationId xmlns:a16="http://schemas.microsoft.com/office/drawing/2014/main" id="{688C389A-A2E6-AD57-F07B-A55C1E8C24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B73C76F7-57E6-64BC-EC9F-31CA8A768A3D}"/>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5" name="Plassholder for bunntekst 4">
            <a:extLst>
              <a:ext uri="{FF2B5EF4-FFF2-40B4-BE49-F238E27FC236}">
                <a16:creationId xmlns:a16="http://schemas.microsoft.com/office/drawing/2014/main" id="{94E241D8-6C55-DFC6-26A6-E25C86BA5BEF}"/>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DDFDB46E-E2A5-FDB7-8C05-A3FEEED5D6F1}"/>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3610708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883D0FA-7C51-83A9-05AB-088B91F9AD62}"/>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44AAF3A1-87DD-5852-C94D-A262135EFCBF}"/>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ED82E683-BE43-7537-7166-6ED89859F698}"/>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5" name="Plassholder for bunntekst 4">
            <a:extLst>
              <a:ext uri="{FF2B5EF4-FFF2-40B4-BE49-F238E27FC236}">
                <a16:creationId xmlns:a16="http://schemas.microsoft.com/office/drawing/2014/main" id="{BCBE04ED-EB75-2882-F9D4-0A7BE364B3B4}"/>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7E3CF8F5-48F6-F49F-894A-E836F1757DA5}"/>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885675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32B0A3D-8BCC-911C-AAE1-C8F7F6149581}"/>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C28590D5-0DFE-95A8-3F07-39324B6060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1590FEEF-B6C2-FCF4-EB48-5AA38EE0B2B0}"/>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5" name="Plassholder for bunntekst 4">
            <a:extLst>
              <a:ext uri="{FF2B5EF4-FFF2-40B4-BE49-F238E27FC236}">
                <a16:creationId xmlns:a16="http://schemas.microsoft.com/office/drawing/2014/main" id="{51750626-433E-F4CF-4F05-6A2D08D0B2A6}"/>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CE0E988B-A26C-A934-34F6-21DF5553B465}"/>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1308513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6C9F5FB-B04D-C349-3BBE-8C0C3B4F610E}"/>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A206CF56-1D2B-9CEC-9F10-79FDED0D00F9}"/>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6B0BB5EC-992E-005D-98C9-870D5D5F64C4}"/>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91F9E61A-1453-A8B1-3178-101DC2E3FF61}"/>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6" name="Plassholder for bunntekst 5">
            <a:extLst>
              <a:ext uri="{FF2B5EF4-FFF2-40B4-BE49-F238E27FC236}">
                <a16:creationId xmlns:a16="http://schemas.microsoft.com/office/drawing/2014/main" id="{7D88F152-C0C8-EAE2-C5DF-9DC08358F7E2}"/>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ACEFC316-E8AD-9A4B-66EE-636F0CB79780}"/>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546379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CE7A4FA-38D2-B848-03EB-7813F8862CB5}"/>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CC190038-4ACF-32AE-A2AA-A4EC6D8847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1BA5D879-DB4F-9399-A53A-3FFDD6581252}"/>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4BC45EED-05D9-2CC2-C6AC-48A16AD458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C0865B48-7883-BD05-2E5D-74B494DDFED6}"/>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B6E22B0A-D6E2-02F3-DCEC-BE7632C06036}"/>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8" name="Plassholder for bunntekst 7">
            <a:extLst>
              <a:ext uri="{FF2B5EF4-FFF2-40B4-BE49-F238E27FC236}">
                <a16:creationId xmlns:a16="http://schemas.microsoft.com/office/drawing/2014/main" id="{D247F293-8F2B-A7CA-61FD-E5DE6652A321}"/>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5B9E487B-F9CB-FB0F-E712-453BB1B6ACFE}"/>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3859140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3561B35-D979-5ECC-1D83-A3433845828A}"/>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72D67320-8376-BB4A-F13A-99587D3B07AA}"/>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4" name="Plassholder for bunntekst 3">
            <a:extLst>
              <a:ext uri="{FF2B5EF4-FFF2-40B4-BE49-F238E27FC236}">
                <a16:creationId xmlns:a16="http://schemas.microsoft.com/office/drawing/2014/main" id="{C115140B-33DC-259D-0004-51B4B4B71623}"/>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4E354C26-DF17-3258-4E0B-F42CB8D3D909}"/>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601920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E9FED796-171A-7AD9-872C-A2EB43676EB0}"/>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3" name="Plassholder for bunntekst 2">
            <a:extLst>
              <a:ext uri="{FF2B5EF4-FFF2-40B4-BE49-F238E27FC236}">
                <a16:creationId xmlns:a16="http://schemas.microsoft.com/office/drawing/2014/main" id="{DCB72759-46A2-36EB-B81C-D7BEDE2B484F}"/>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BF244505-9FAB-3B68-3C9E-7AEC40E682AA}"/>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888834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AD21714-F20B-AE2B-D583-2106F4CCA006}"/>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814AAA7C-8B90-3834-B583-ECDBF5073C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D9B2729A-0483-2621-395D-073B8A087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C8E14143-8AC0-3931-BF2C-9B5C8B92EBE7}"/>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6" name="Plassholder for bunntekst 5">
            <a:extLst>
              <a:ext uri="{FF2B5EF4-FFF2-40B4-BE49-F238E27FC236}">
                <a16:creationId xmlns:a16="http://schemas.microsoft.com/office/drawing/2014/main" id="{2EF9953F-9EAD-4C94-3C42-646E68E45449}"/>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59D8D863-6250-9074-D027-62FD0802CC84}"/>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1469117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150E61F-E3B9-16C7-01E3-F99AC9022321}"/>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AB30E5B0-CEC8-B75C-63A3-72E0BBF088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63104771-0598-75C2-6E90-5D38CE5CC8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95F7361E-304C-CB03-FC6C-5A588F8D5663}"/>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6" name="Plassholder for bunntekst 5">
            <a:extLst>
              <a:ext uri="{FF2B5EF4-FFF2-40B4-BE49-F238E27FC236}">
                <a16:creationId xmlns:a16="http://schemas.microsoft.com/office/drawing/2014/main" id="{7F1FA6CA-DDC5-E366-4E63-70CF342493C0}"/>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BCEEFC9D-5AB2-6610-CA44-E6B184F1DECD}"/>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3822175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68992B0-7F78-C04A-AFD2-25CF776FE2F3}"/>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D0B404FE-17FA-B344-4A98-25F4CDDDBCFD}"/>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860B16DA-6CA8-CBC2-40A6-B41BFDE0BD52}"/>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5" name="Plassholder for bunntekst 4">
            <a:extLst>
              <a:ext uri="{FF2B5EF4-FFF2-40B4-BE49-F238E27FC236}">
                <a16:creationId xmlns:a16="http://schemas.microsoft.com/office/drawing/2014/main" id="{45E77BFC-B1FE-FBCA-419B-1B184D94053B}"/>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19F681B9-0F0D-65A8-6A8A-9E1881F55927}"/>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1001799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D471ADD1-97DE-47E7-F754-89A35FADE1E1}"/>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FDA73DAE-8B1F-1E7B-1E51-00FFA4F3C335}"/>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027A1E2D-9811-75BC-1C19-48D06CA8F77F}"/>
              </a:ext>
            </a:extLst>
          </p:cNvPr>
          <p:cNvSpPr>
            <a:spLocks noGrp="1"/>
          </p:cNvSpPr>
          <p:nvPr>
            <p:ph type="dt" sz="half" idx="10"/>
          </p:nvPr>
        </p:nvSpPr>
        <p:spPr/>
        <p:txBody>
          <a:bodyPr/>
          <a:lstStyle/>
          <a:p>
            <a:fld id="{F465A6CD-6BFB-4A4E-B2FF-3727B8545E4C}" type="datetimeFigureOut">
              <a:rPr lang="nb-NO" smtClean="0"/>
              <a:t>23.11.2025</a:t>
            </a:fld>
            <a:endParaRPr lang="nb-NO"/>
          </a:p>
        </p:txBody>
      </p:sp>
      <p:sp>
        <p:nvSpPr>
          <p:cNvPr id="5" name="Plassholder for bunntekst 4">
            <a:extLst>
              <a:ext uri="{FF2B5EF4-FFF2-40B4-BE49-F238E27FC236}">
                <a16:creationId xmlns:a16="http://schemas.microsoft.com/office/drawing/2014/main" id="{FD76D5F5-0A1B-4EDE-6016-18B1FA59DB05}"/>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5349E720-D4CF-0F92-61C2-0797B681A6C2}"/>
              </a:ext>
            </a:extLst>
          </p:cNvPr>
          <p:cNvSpPr>
            <a:spLocks noGrp="1"/>
          </p:cNvSpPr>
          <p:nvPr>
            <p:ph type="sldNum" sz="quarter" idx="12"/>
          </p:nvPr>
        </p:nvSpPr>
        <p:spPr/>
        <p:txBody>
          <a:bodyPr/>
          <a:lstStyle/>
          <a:p>
            <a:fld id="{6B252398-0A7D-45A6-86FB-976FBC878431}" type="slidenum">
              <a:rPr lang="nb-NO" smtClean="0"/>
              <a:t>‹#›</a:t>
            </a:fld>
            <a:endParaRPr lang="nb-NO"/>
          </a:p>
        </p:txBody>
      </p:sp>
    </p:spTree>
    <p:extLst>
      <p:ext uri="{BB962C8B-B14F-4D97-AF65-F5344CB8AC3E}">
        <p14:creationId xmlns:p14="http://schemas.microsoft.com/office/powerpoint/2010/main" val="1038026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5778F5B0-0AB0-1538-C8AC-FD88EE5ADD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D67303B6-EB17-CDC9-93E4-9BC5155B9F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FC932C4C-EC62-F7A7-A24A-AFDCD5A37D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65A6CD-6BFB-4A4E-B2FF-3727B8545E4C}" type="datetimeFigureOut">
              <a:rPr lang="nb-NO" smtClean="0"/>
              <a:t>23.11.2025</a:t>
            </a:fld>
            <a:endParaRPr lang="nb-NO"/>
          </a:p>
        </p:txBody>
      </p:sp>
      <p:sp>
        <p:nvSpPr>
          <p:cNvPr id="5" name="Plassholder for bunntekst 4">
            <a:extLst>
              <a:ext uri="{FF2B5EF4-FFF2-40B4-BE49-F238E27FC236}">
                <a16:creationId xmlns:a16="http://schemas.microsoft.com/office/drawing/2014/main" id="{88C2957F-1175-CD89-575C-AFDFA12423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Plassholder for lysbildenummer 5">
            <a:extLst>
              <a:ext uri="{FF2B5EF4-FFF2-40B4-BE49-F238E27FC236}">
                <a16:creationId xmlns:a16="http://schemas.microsoft.com/office/drawing/2014/main" id="{B47AB645-6119-1D16-C570-E61D6156CD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252398-0A7D-45A6-86FB-976FBC878431}" type="slidenum">
              <a:rPr lang="nb-NO" smtClean="0"/>
              <a:t>‹#›</a:t>
            </a:fld>
            <a:endParaRPr lang="nb-NO"/>
          </a:p>
        </p:txBody>
      </p:sp>
    </p:spTree>
    <p:extLst>
      <p:ext uri="{BB962C8B-B14F-4D97-AF65-F5344CB8AC3E}">
        <p14:creationId xmlns:p14="http://schemas.microsoft.com/office/powerpoint/2010/main" val="1704867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BF2AFACC-65F7-09E9-1A3F-EFA26EA177A7}"/>
              </a:ext>
            </a:extLst>
          </p:cNvPr>
          <p:cNvSpPr>
            <a:spLocks noGrp="1"/>
          </p:cNvSpPr>
          <p:nvPr>
            <p:ph type="ctrTitle"/>
          </p:nvPr>
        </p:nvSpPr>
        <p:spPr>
          <a:xfrm>
            <a:off x="1524000" y="1584683"/>
            <a:ext cx="9144000" cy="2551829"/>
          </a:xfrm>
        </p:spPr>
        <p:txBody>
          <a:bodyPr anchor="ctr">
            <a:normAutofit/>
          </a:bodyPr>
          <a:lstStyle/>
          <a:p>
            <a:r>
              <a:rPr lang="nb-NO" sz="6100"/>
              <a:t>Air Heater Control System, Datalogger and Visualiser</a:t>
            </a:r>
          </a:p>
        </p:txBody>
      </p:sp>
    </p:spTree>
    <p:extLst>
      <p:ext uri="{BB962C8B-B14F-4D97-AF65-F5344CB8AC3E}">
        <p14:creationId xmlns:p14="http://schemas.microsoft.com/office/powerpoint/2010/main" val="1571236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47C86F40-0F69-7E8D-B5CD-23EDAB58BC1C}"/>
              </a:ext>
            </a:extLst>
          </p:cNvPr>
          <p:cNvSpPr>
            <a:spLocks noGrp="1"/>
          </p:cNvSpPr>
          <p:nvPr>
            <p:ph type="title"/>
          </p:nvPr>
        </p:nvSpPr>
        <p:spPr>
          <a:xfrm>
            <a:off x="1285240" y="1050595"/>
            <a:ext cx="8074815" cy="1618489"/>
          </a:xfrm>
        </p:spPr>
        <p:txBody>
          <a:bodyPr anchor="ctr">
            <a:normAutofit/>
          </a:bodyPr>
          <a:lstStyle/>
          <a:p>
            <a:r>
              <a:rPr lang="nb-NO" sz="7200"/>
              <a:t>Requirements</a:t>
            </a:r>
          </a:p>
        </p:txBody>
      </p:sp>
      <p:sp>
        <p:nvSpPr>
          <p:cNvPr id="3" name="Plassholder for innhold 2">
            <a:extLst>
              <a:ext uri="{FF2B5EF4-FFF2-40B4-BE49-F238E27FC236}">
                <a16:creationId xmlns:a16="http://schemas.microsoft.com/office/drawing/2014/main" id="{EA75845F-0AFE-A796-3176-C828FF2EB640}"/>
              </a:ext>
            </a:extLst>
          </p:cNvPr>
          <p:cNvSpPr>
            <a:spLocks noGrp="1"/>
          </p:cNvSpPr>
          <p:nvPr>
            <p:ph idx="1"/>
          </p:nvPr>
        </p:nvSpPr>
        <p:spPr>
          <a:xfrm>
            <a:off x="1285240" y="2969469"/>
            <a:ext cx="8074815" cy="2800395"/>
          </a:xfrm>
        </p:spPr>
        <p:txBody>
          <a:bodyPr anchor="t">
            <a:normAutofit/>
          </a:bodyPr>
          <a:lstStyle/>
          <a:p>
            <a:r>
              <a:rPr lang="en-US" sz="1500" dirty="0"/>
              <a:t>Create a PI controller for controlling an air heater</a:t>
            </a:r>
          </a:p>
          <a:p>
            <a:r>
              <a:rPr lang="en-US" sz="1500" dirty="0"/>
              <a:t>Perform frequency response and Stability Analysis on system and tune PI parameters using Ziegler Nichols method.</a:t>
            </a:r>
          </a:p>
          <a:p>
            <a:r>
              <a:rPr lang="en-US" sz="1500" dirty="0"/>
              <a:t>Control an air heater (simulator), retrieving data from it and publishing parameters using Modbus TCP</a:t>
            </a:r>
          </a:p>
          <a:p>
            <a:r>
              <a:rPr lang="en-US" sz="1500" dirty="0"/>
              <a:t>Create GUI for the controller and ability to have multiple controllers logging at once.</a:t>
            </a:r>
          </a:p>
          <a:p>
            <a:r>
              <a:rPr lang="en-US" sz="1500" dirty="0"/>
              <a:t>Log to Azure Cosmos DB</a:t>
            </a:r>
          </a:p>
          <a:p>
            <a:r>
              <a:rPr lang="en-US" sz="1500" dirty="0"/>
              <a:t>Create an ASP.NET Core Web Application for Monitoring Data</a:t>
            </a:r>
          </a:p>
          <a:p>
            <a:r>
              <a:rPr lang="en-US" sz="1500" dirty="0"/>
              <a:t>Deploy system to Microsoft Azure</a:t>
            </a:r>
            <a:endParaRPr lang="nb-NO" sz="1500" dirty="0"/>
          </a:p>
        </p:txBody>
      </p:sp>
    </p:spTree>
    <p:extLst>
      <p:ext uri="{BB962C8B-B14F-4D97-AF65-F5344CB8AC3E}">
        <p14:creationId xmlns:p14="http://schemas.microsoft.com/office/powerpoint/2010/main" val="1498190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Bilde 4" descr="Et bilde som inneholder tekst, skjermbilde, diagram, design&#10;&#10;KI-generert innhold kan være feil.">
            <a:extLst>
              <a:ext uri="{FF2B5EF4-FFF2-40B4-BE49-F238E27FC236}">
                <a16:creationId xmlns:a16="http://schemas.microsoft.com/office/drawing/2014/main" id="{03FCCF39-1833-6BD1-FBD5-5872329D17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675" y="1096166"/>
            <a:ext cx="6589537" cy="4662100"/>
          </a:xfrm>
          <a:prstGeom prst="rect">
            <a:avLst/>
          </a:prstGeom>
        </p:spPr>
      </p:pic>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744577C6-3DBF-2FC9-FDC7-D5805DDB7046}"/>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6100" kern="1200">
                <a:solidFill>
                  <a:schemeClr val="tx1"/>
                </a:solidFill>
                <a:latin typeface="+mj-lt"/>
                <a:ea typeface="+mj-ea"/>
                <a:cs typeface="+mj-cs"/>
              </a:rPr>
              <a:t>System Overview</a:t>
            </a:r>
          </a:p>
        </p:txBody>
      </p:sp>
    </p:spTree>
    <p:extLst>
      <p:ext uri="{BB962C8B-B14F-4D97-AF65-F5344CB8AC3E}">
        <p14:creationId xmlns:p14="http://schemas.microsoft.com/office/powerpoint/2010/main" val="1373245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477B3D0A-9C0E-8E65-3091-732A717D3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C2C3C52B-BCDC-C7C1-748E-E5DFB8FE4E93}"/>
              </a:ext>
            </a:extLst>
          </p:cNvPr>
          <p:cNvSpPr>
            <a:spLocks noGrp="1"/>
          </p:cNvSpPr>
          <p:nvPr>
            <p:ph type="title"/>
          </p:nvPr>
        </p:nvSpPr>
        <p:spPr>
          <a:xfrm>
            <a:off x="758952" y="234057"/>
            <a:ext cx="10124189" cy="1228299"/>
          </a:xfrm>
        </p:spPr>
        <p:txBody>
          <a:bodyPr>
            <a:normAutofit/>
          </a:bodyPr>
          <a:lstStyle/>
          <a:p>
            <a:r>
              <a:rPr lang="nb-NO" sz="4000"/>
              <a:t>Control System</a:t>
            </a:r>
          </a:p>
        </p:txBody>
      </p:sp>
      <p:sp>
        <p:nvSpPr>
          <p:cNvPr id="3" name="Plassholder for innhold 2">
            <a:extLst>
              <a:ext uri="{FF2B5EF4-FFF2-40B4-BE49-F238E27FC236}">
                <a16:creationId xmlns:a16="http://schemas.microsoft.com/office/drawing/2014/main" id="{5CDF1598-0A48-D1C8-BDF3-0186F62DFF5A}"/>
              </a:ext>
            </a:extLst>
          </p:cNvPr>
          <p:cNvSpPr>
            <a:spLocks noGrp="1"/>
          </p:cNvSpPr>
          <p:nvPr>
            <p:ph idx="1"/>
          </p:nvPr>
        </p:nvSpPr>
        <p:spPr>
          <a:xfrm>
            <a:off x="758952" y="2281552"/>
            <a:ext cx="5725263" cy="3916915"/>
          </a:xfrm>
        </p:spPr>
        <p:txBody>
          <a:bodyPr anchor="ctr">
            <a:normAutofit/>
          </a:bodyPr>
          <a:lstStyle/>
          <a:p>
            <a:r>
              <a:rPr lang="nb-NO" sz="2000" dirty="0"/>
              <a:t>PI </a:t>
            </a:r>
            <a:r>
              <a:rPr lang="nb-NO" sz="2000" dirty="0" err="1"/>
              <a:t>controller</a:t>
            </a:r>
            <a:r>
              <a:rPr lang="nb-NO" sz="2000" dirty="0"/>
              <a:t> in </a:t>
            </a:r>
            <a:r>
              <a:rPr lang="nb-NO" sz="2000" dirty="0" err="1"/>
              <a:t>python</a:t>
            </a:r>
            <a:endParaRPr lang="nb-NO" sz="2000" dirty="0"/>
          </a:p>
          <a:p>
            <a:r>
              <a:rPr lang="nb-NO" sz="2000" dirty="0" err="1"/>
              <a:t>Stability</a:t>
            </a:r>
            <a:r>
              <a:rPr lang="nb-NO" sz="2000" dirty="0"/>
              <a:t> </a:t>
            </a:r>
            <a:r>
              <a:rPr lang="nb-NO" sz="2000" dirty="0" err="1"/>
              <a:t>analysis</a:t>
            </a:r>
            <a:r>
              <a:rPr lang="nb-NO" sz="2000" dirty="0"/>
              <a:t> and Ziegler-Nichols</a:t>
            </a:r>
          </a:p>
          <a:p>
            <a:r>
              <a:rPr lang="nb-NO" sz="2000" dirty="0"/>
              <a:t>Publishing to </a:t>
            </a:r>
            <a:r>
              <a:rPr lang="nb-NO" sz="2000" dirty="0" err="1"/>
              <a:t>Modbus</a:t>
            </a:r>
            <a:endParaRPr lang="nb-NO" sz="2000" dirty="0"/>
          </a:p>
          <a:p>
            <a:endParaRPr lang="nb-NO" sz="2000" dirty="0"/>
          </a:p>
        </p:txBody>
      </p:sp>
      <p:pic>
        <p:nvPicPr>
          <p:cNvPr id="5" name="Bilde 4">
            <a:extLst>
              <a:ext uri="{FF2B5EF4-FFF2-40B4-BE49-F238E27FC236}">
                <a16:creationId xmlns:a16="http://schemas.microsoft.com/office/drawing/2014/main" id="{BC3A37AF-F33F-8CAF-51D0-F1EE06301128}"/>
              </a:ext>
            </a:extLst>
          </p:cNvPr>
          <p:cNvPicPr>
            <a:picLocks noChangeAspect="1"/>
          </p:cNvPicPr>
          <p:nvPr/>
        </p:nvPicPr>
        <p:blipFill>
          <a:blip r:embed="rId2"/>
          <a:stretch>
            <a:fillRect/>
          </a:stretch>
        </p:blipFill>
        <p:spPr>
          <a:xfrm>
            <a:off x="6920685" y="2215443"/>
            <a:ext cx="4174034" cy="931817"/>
          </a:xfrm>
          <a:prstGeom prst="rect">
            <a:avLst/>
          </a:prstGeom>
        </p:spPr>
      </p:pic>
      <p:pic>
        <p:nvPicPr>
          <p:cNvPr id="7" name="Bilde 6">
            <a:extLst>
              <a:ext uri="{FF2B5EF4-FFF2-40B4-BE49-F238E27FC236}">
                <a16:creationId xmlns:a16="http://schemas.microsoft.com/office/drawing/2014/main" id="{E1548AB5-D890-B49A-5FE2-BD3355BCDCA3}"/>
              </a:ext>
            </a:extLst>
          </p:cNvPr>
          <p:cNvPicPr>
            <a:picLocks noChangeAspect="1"/>
          </p:cNvPicPr>
          <p:nvPr/>
        </p:nvPicPr>
        <p:blipFill>
          <a:blip r:embed="rId3"/>
          <a:stretch>
            <a:fillRect/>
          </a:stretch>
        </p:blipFill>
        <p:spPr>
          <a:xfrm>
            <a:off x="5710824" y="3666291"/>
            <a:ext cx="2998745" cy="2264052"/>
          </a:xfrm>
          <a:prstGeom prst="rect">
            <a:avLst/>
          </a:prstGeom>
        </p:spPr>
      </p:pic>
      <p:pic>
        <p:nvPicPr>
          <p:cNvPr id="9" name="Bilde 8">
            <a:extLst>
              <a:ext uri="{FF2B5EF4-FFF2-40B4-BE49-F238E27FC236}">
                <a16:creationId xmlns:a16="http://schemas.microsoft.com/office/drawing/2014/main" id="{FBFAC142-346A-824C-265F-D182A3E46CDE}"/>
              </a:ext>
            </a:extLst>
          </p:cNvPr>
          <p:cNvPicPr>
            <a:picLocks noChangeAspect="1"/>
          </p:cNvPicPr>
          <p:nvPr/>
        </p:nvPicPr>
        <p:blipFill>
          <a:blip r:embed="rId4"/>
          <a:stretch>
            <a:fillRect/>
          </a:stretch>
        </p:blipFill>
        <p:spPr>
          <a:xfrm>
            <a:off x="9023684" y="3646877"/>
            <a:ext cx="3038997" cy="2264052"/>
          </a:xfrm>
          <a:prstGeom prst="rect">
            <a:avLst/>
          </a:prstGeom>
        </p:spPr>
      </p:pic>
    </p:spTree>
    <p:extLst>
      <p:ext uri="{BB962C8B-B14F-4D97-AF65-F5344CB8AC3E}">
        <p14:creationId xmlns:p14="http://schemas.microsoft.com/office/powerpoint/2010/main" val="880641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515456E-B1B1-48C1-8164-7E567F5D4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A8CF0DC-D23A-4CA2-8463-27F89928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B8A381C4-0C0D-491F-90D8-63CF760B45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5698">
            <a:off x="-195643" y="67946"/>
            <a:ext cx="6408310" cy="6912725"/>
          </a:xfrm>
          <a:custGeom>
            <a:avLst/>
            <a:gdLst>
              <a:gd name="connsiteX0" fmla="*/ 0 w 6408310"/>
              <a:gd name="connsiteY0" fmla="*/ 108934 h 6912725"/>
              <a:gd name="connsiteX1" fmla="*/ 1911522 w 6408310"/>
              <a:gd name="connsiteY1" fmla="*/ 0 h 6912725"/>
              <a:gd name="connsiteX2" fmla="*/ 1916026 w 6408310"/>
              <a:gd name="connsiteY2" fmla="*/ 4704 h 6912725"/>
              <a:gd name="connsiteX3" fmla="*/ 1911112 w 6408310"/>
              <a:gd name="connsiteY3" fmla="*/ 17418 h 6912725"/>
              <a:gd name="connsiteX4" fmla="*/ 1972871 w 6408310"/>
              <a:gd name="connsiteY4" fmla="*/ 72530 h 6912725"/>
              <a:gd name="connsiteX5" fmla="*/ 2069180 w 6408310"/>
              <a:gd name="connsiteY5" fmla="*/ 173199 h 6912725"/>
              <a:gd name="connsiteX6" fmla="*/ 2131569 w 6408310"/>
              <a:gd name="connsiteY6" fmla="*/ 227805 h 6912725"/>
              <a:gd name="connsiteX7" fmla="*/ 2162747 w 6408310"/>
              <a:gd name="connsiteY7" fmla="*/ 239714 h 6912725"/>
              <a:gd name="connsiteX8" fmla="*/ 2220499 w 6408310"/>
              <a:gd name="connsiteY8" fmla="*/ 289903 h 6912725"/>
              <a:gd name="connsiteX9" fmla="*/ 2381978 w 6408310"/>
              <a:gd name="connsiteY9" fmla="*/ 391093 h 6912725"/>
              <a:gd name="connsiteX10" fmla="*/ 2445910 w 6408310"/>
              <a:gd name="connsiteY10" fmla="*/ 463815 h 6912725"/>
              <a:gd name="connsiteX11" fmla="*/ 2531236 w 6408310"/>
              <a:gd name="connsiteY11" fmla="*/ 600817 h 6912725"/>
              <a:gd name="connsiteX12" fmla="*/ 2617149 w 6408310"/>
              <a:gd name="connsiteY12" fmla="*/ 703748 h 6912725"/>
              <a:gd name="connsiteX13" fmla="*/ 2650333 w 6408310"/>
              <a:gd name="connsiteY13" fmla="*/ 720900 h 6912725"/>
              <a:gd name="connsiteX14" fmla="*/ 2705541 w 6408310"/>
              <a:gd name="connsiteY14" fmla="*/ 750090 h 6912725"/>
              <a:gd name="connsiteX15" fmla="*/ 2757210 w 6408310"/>
              <a:gd name="connsiteY15" fmla="*/ 789489 h 6912725"/>
              <a:gd name="connsiteX16" fmla="*/ 2791660 w 6408310"/>
              <a:gd name="connsiteY16" fmla="*/ 816041 h 6912725"/>
              <a:gd name="connsiteX17" fmla="*/ 2840975 w 6408310"/>
              <a:gd name="connsiteY17" fmla="*/ 842225 h 6912725"/>
              <a:gd name="connsiteX18" fmla="*/ 2917970 w 6408310"/>
              <a:gd name="connsiteY18" fmla="*/ 879392 h 6912725"/>
              <a:gd name="connsiteX19" fmla="*/ 2957236 w 6408310"/>
              <a:gd name="connsiteY19" fmla="*/ 906835 h 6912725"/>
              <a:gd name="connsiteX20" fmla="*/ 3117215 w 6408310"/>
              <a:gd name="connsiteY20" fmla="*/ 1073714 h 6912725"/>
              <a:gd name="connsiteX21" fmla="*/ 3250958 w 6408310"/>
              <a:gd name="connsiteY21" fmla="*/ 1130397 h 6912725"/>
              <a:gd name="connsiteX22" fmla="*/ 3496717 w 6408310"/>
              <a:gd name="connsiteY22" fmla="*/ 1260412 h 6912725"/>
              <a:gd name="connsiteX23" fmla="*/ 3494992 w 6408310"/>
              <a:gd name="connsiteY23" fmla="*/ 1268283 h 6912725"/>
              <a:gd name="connsiteX24" fmla="*/ 3508993 w 6408310"/>
              <a:gd name="connsiteY24" fmla="*/ 1287737 h 6912725"/>
              <a:gd name="connsiteX25" fmla="*/ 3512115 w 6408310"/>
              <a:gd name="connsiteY25" fmla="*/ 1288544 h 6912725"/>
              <a:gd name="connsiteX26" fmla="*/ 3548697 w 6408310"/>
              <a:gd name="connsiteY26" fmla="*/ 1363739 h 6912725"/>
              <a:gd name="connsiteX27" fmla="*/ 3656567 w 6408310"/>
              <a:gd name="connsiteY27" fmla="*/ 1479533 h 6912725"/>
              <a:gd name="connsiteX28" fmla="*/ 3661987 w 6408310"/>
              <a:gd name="connsiteY28" fmla="*/ 1491779 h 6912725"/>
              <a:gd name="connsiteX29" fmla="*/ 3667389 w 6408310"/>
              <a:gd name="connsiteY29" fmla="*/ 1495409 h 6912725"/>
              <a:gd name="connsiteX30" fmla="*/ 3800461 w 6408310"/>
              <a:gd name="connsiteY30" fmla="*/ 1696689 h 6912725"/>
              <a:gd name="connsiteX31" fmla="*/ 3933737 w 6408310"/>
              <a:gd name="connsiteY31" fmla="*/ 1853325 h 6912725"/>
              <a:gd name="connsiteX32" fmla="*/ 3946446 w 6408310"/>
              <a:gd name="connsiteY32" fmla="*/ 1903446 h 6912725"/>
              <a:gd name="connsiteX33" fmla="*/ 3960581 w 6408310"/>
              <a:gd name="connsiteY33" fmla="*/ 1913244 h 6912725"/>
              <a:gd name="connsiteX34" fmla="*/ 4015111 w 6408310"/>
              <a:gd name="connsiteY34" fmla="*/ 1956512 h 6912725"/>
              <a:gd name="connsiteX35" fmla="*/ 4070740 w 6408310"/>
              <a:gd name="connsiteY35" fmla="*/ 1999693 h 6912725"/>
              <a:gd name="connsiteX36" fmla="*/ 4091495 w 6408310"/>
              <a:gd name="connsiteY36" fmla="*/ 2064313 h 6912725"/>
              <a:gd name="connsiteX37" fmla="*/ 4118353 w 6408310"/>
              <a:gd name="connsiteY37" fmla="*/ 2073901 h 6912725"/>
              <a:gd name="connsiteX38" fmla="*/ 4123293 w 6408310"/>
              <a:gd name="connsiteY38" fmla="*/ 2075261 h 6912725"/>
              <a:gd name="connsiteX39" fmla="*/ 4166582 w 6408310"/>
              <a:gd name="connsiteY39" fmla="*/ 2120685 h 6912725"/>
              <a:gd name="connsiteX40" fmla="*/ 4213721 w 6408310"/>
              <a:gd name="connsiteY40" fmla="*/ 2168493 h 6912725"/>
              <a:gd name="connsiteX41" fmla="*/ 4250795 w 6408310"/>
              <a:gd name="connsiteY41" fmla="*/ 2261746 h 6912725"/>
              <a:gd name="connsiteX42" fmla="*/ 4295408 w 6408310"/>
              <a:gd name="connsiteY42" fmla="*/ 2340515 h 6912725"/>
              <a:gd name="connsiteX43" fmla="*/ 4318976 w 6408310"/>
              <a:gd name="connsiteY43" fmla="*/ 2371504 h 6912725"/>
              <a:gd name="connsiteX44" fmla="*/ 4323314 w 6408310"/>
              <a:gd name="connsiteY44" fmla="*/ 2378166 h 6912725"/>
              <a:gd name="connsiteX45" fmla="*/ 4323235 w 6408310"/>
              <a:gd name="connsiteY45" fmla="*/ 2378475 h 6912725"/>
              <a:gd name="connsiteX46" fmla="*/ 4327479 w 6408310"/>
              <a:gd name="connsiteY46" fmla="*/ 2385858 h 6912725"/>
              <a:gd name="connsiteX47" fmla="*/ 4331226 w 6408310"/>
              <a:gd name="connsiteY47" fmla="*/ 2390318 h 6912725"/>
              <a:gd name="connsiteX48" fmla="*/ 4339643 w 6408310"/>
              <a:gd name="connsiteY48" fmla="*/ 2403246 h 6912725"/>
              <a:gd name="connsiteX49" fmla="*/ 4341435 w 6408310"/>
              <a:gd name="connsiteY49" fmla="*/ 2408870 h 6912725"/>
              <a:gd name="connsiteX50" fmla="*/ 4340548 w 6408310"/>
              <a:gd name="connsiteY50" fmla="*/ 2412798 h 6912725"/>
              <a:gd name="connsiteX51" fmla="*/ 4351634 w 6408310"/>
              <a:gd name="connsiteY51" fmla="*/ 2443869 h 6912725"/>
              <a:gd name="connsiteX52" fmla="*/ 4380688 w 6408310"/>
              <a:gd name="connsiteY52" fmla="*/ 2504819 h 6912725"/>
              <a:gd name="connsiteX53" fmla="*/ 4399892 w 6408310"/>
              <a:gd name="connsiteY53" fmla="*/ 2537002 h 6912725"/>
              <a:gd name="connsiteX54" fmla="*/ 4449690 w 6408310"/>
              <a:gd name="connsiteY54" fmla="*/ 2628144 h 6912725"/>
              <a:gd name="connsiteX55" fmla="*/ 4512427 w 6408310"/>
              <a:gd name="connsiteY55" fmla="*/ 2840755 h 6912725"/>
              <a:gd name="connsiteX56" fmla="*/ 4591091 w 6408310"/>
              <a:gd name="connsiteY56" fmla="*/ 3036586 h 6912725"/>
              <a:gd name="connsiteX57" fmla="*/ 4757297 w 6408310"/>
              <a:gd name="connsiteY57" fmla="*/ 3388741 h 6912725"/>
              <a:gd name="connsiteX58" fmla="*/ 4755264 w 6408310"/>
              <a:gd name="connsiteY58" fmla="*/ 3461211 h 6912725"/>
              <a:gd name="connsiteX59" fmla="*/ 4776842 w 6408310"/>
              <a:gd name="connsiteY59" fmla="*/ 3503606 h 6912725"/>
              <a:gd name="connsiteX60" fmla="*/ 4815953 w 6408310"/>
              <a:gd name="connsiteY60" fmla="*/ 3543897 h 6912725"/>
              <a:gd name="connsiteX61" fmla="*/ 4826382 w 6408310"/>
              <a:gd name="connsiteY61" fmla="*/ 3589602 h 6912725"/>
              <a:gd name="connsiteX62" fmla="*/ 4900664 w 6408310"/>
              <a:gd name="connsiteY62" fmla="*/ 3697326 h 6912725"/>
              <a:gd name="connsiteX63" fmla="*/ 4944717 w 6408310"/>
              <a:gd name="connsiteY63" fmla="*/ 3795461 h 6912725"/>
              <a:gd name="connsiteX64" fmla="*/ 4981260 w 6408310"/>
              <a:gd name="connsiteY64" fmla="*/ 3887734 h 6912725"/>
              <a:gd name="connsiteX65" fmla="*/ 5000423 w 6408310"/>
              <a:gd name="connsiteY65" fmla="*/ 3933089 h 6912725"/>
              <a:gd name="connsiteX66" fmla="*/ 5033013 w 6408310"/>
              <a:gd name="connsiteY66" fmla="*/ 3937041 h 6912725"/>
              <a:gd name="connsiteX67" fmla="*/ 5081597 w 6408310"/>
              <a:gd name="connsiteY67" fmla="*/ 4013154 h 6912725"/>
              <a:gd name="connsiteX68" fmla="*/ 5088052 w 6408310"/>
              <a:gd name="connsiteY68" fmla="*/ 4027525 h 6912725"/>
              <a:gd name="connsiteX69" fmla="*/ 5189054 w 6408310"/>
              <a:gd name="connsiteY69" fmla="*/ 4098668 h 6912725"/>
              <a:gd name="connsiteX70" fmla="*/ 5228545 w 6408310"/>
              <a:gd name="connsiteY70" fmla="*/ 4146658 h 6912725"/>
              <a:gd name="connsiteX71" fmla="*/ 5268336 w 6408310"/>
              <a:gd name="connsiteY71" fmla="*/ 4194504 h 6912725"/>
              <a:gd name="connsiteX72" fmla="*/ 5317950 w 6408310"/>
              <a:gd name="connsiteY72" fmla="*/ 4267325 h 6912725"/>
              <a:gd name="connsiteX73" fmla="*/ 5598270 w 6408310"/>
              <a:gd name="connsiteY73" fmla="*/ 4563876 h 6912725"/>
              <a:gd name="connsiteX74" fmla="*/ 5833068 w 6408310"/>
              <a:gd name="connsiteY74" fmla="*/ 5016605 h 6912725"/>
              <a:gd name="connsiteX75" fmla="*/ 6045916 w 6408310"/>
              <a:gd name="connsiteY75" fmla="*/ 5405287 h 6912725"/>
              <a:gd name="connsiteX76" fmla="*/ 6117737 w 6408310"/>
              <a:gd name="connsiteY76" fmla="*/ 5538137 h 6912725"/>
              <a:gd name="connsiteX77" fmla="*/ 6144230 w 6408310"/>
              <a:gd name="connsiteY77" fmla="*/ 5635151 h 6912725"/>
              <a:gd name="connsiteX78" fmla="*/ 6176742 w 6408310"/>
              <a:gd name="connsiteY78" fmla="*/ 5809044 h 6912725"/>
              <a:gd name="connsiteX79" fmla="*/ 6245199 w 6408310"/>
              <a:gd name="connsiteY79" fmla="*/ 6038018 h 6912725"/>
              <a:gd name="connsiteX80" fmla="*/ 6303931 w 6408310"/>
              <a:gd name="connsiteY80" fmla="*/ 6175618 h 6912725"/>
              <a:gd name="connsiteX81" fmla="*/ 6336313 w 6408310"/>
              <a:gd name="connsiteY81" fmla="*/ 6345837 h 6912725"/>
              <a:gd name="connsiteX82" fmla="*/ 6401195 w 6408310"/>
              <a:gd name="connsiteY82" fmla="*/ 6542084 h 6912725"/>
              <a:gd name="connsiteX83" fmla="*/ 6408310 w 6408310"/>
              <a:gd name="connsiteY83" fmla="*/ 6612865 h 6912725"/>
              <a:gd name="connsiteX84" fmla="*/ 1146484 w 6408310"/>
              <a:gd name="connsiteY84" fmla="*/ 6912725 h 6912725"/>
              <a:gd name="connsiteX85" fmla="*/ 1108438 w 6408310"/>
              <a:gd name="connsiteY85" fmla="*/ 6825083 h 6912725"/>
              <a:gd name="connsiteX86" fmla="*/ 997867 w 6408310"/>
              <a:gd name="connsiteY86" fmla="*/ 6378703 h 6912725"/>
              <a:gd name="connsiteX87" fmla="*/ 858750 w 6408310"/>
              <a:gd name="connsiteY87" fmla="*/ 5923784 h 6912725"/>
              <a:gd name="connsiteX88" fmla="*/ 860408 w 6408310"/>
              <a:gd name="connsiteY88" fmla="*/ 5860728 h 6912725"/>
              <a:gd name="connsiteX89" fmla="*/ 853644 w 6408310"/>
              <a:gd name="connsiteY89" fmla="*/ 5771381 h 6912725"/>
              <a:gd name="connsiteX90" fmla="*/ 852164 w 6408310"/>
              <a:gd name="connsiteY90" fmla="*/ 5615193 h 6912725"/>
              <a:gd name="connsiteX91" fmla="*/ 831986 w 6408310"/>
              <a:gd name="connsiteY91" fmla="*/ 5402745 h 6912725"/>
              <a:gd name="connsiteX92" fmla="*/ 759590 w 6408310"/>
              <a:gd name="connsiteY92" fmla="*/ 5239800 h 6912725"/>
              <a:gd name="connsiteX93" fmla="*/ 767251 w 6408310"/>
              <a:gd name="connsiteY93" fmla="*/ 5227414 h 6912725"/>
              <a:gd name="connsiteX94" fmla="*/ 745427 w 6408310"/>
              <a:gd name="connsiteY94" fmla="*/ 5118958 h 6912725"/>
              <a:gd name="connsiteX95" fmla="*/ 635950 w 6408310"/>
              <a:gd name="connsiteY95" fmla="*/ 4788294 h 6912725"/>
              <a:gd name="connsiteX96" fmla="*/ 558787 w 6408310"/>
              <a:gd name="connsiteY96" fmla="*/ 4518070 h 6912725"/>
              <a:gd name="connsiteX97" fmla="*/ 555530 w 6408310"/>
              <a:gd name="connsiteY97" fmla="*/ 4444433 h 6912725"/>
              <a:gd name="connsiteX98" fmla="*/ 549378 w 6408310"/>
              <a:gd name="connsiteY98" fmla="*/ 4320965 h 6912725"/>
              <a:gd name="connsiteX99" fmla="*/ 572361 w 6408310"/>
              <a:gd name="connsiteY99" fmla="*/ 4232369 h 6912725"/>
              <a:gd name="connsiteX100" fmla="*/ 556288 w 6408310"/>
              <a:gd name="connsiteY100" fmla="*/ 4127673 h 6912725"/>
              <a:gd name="connsiteX101" fmla="*/ 506660 w 6408310"/>
              <a:gd name="connsiteY101" fmla="*/ 3821119 h 6912725"/>
              <a:gd name="connsiteX102" fmla="*/ 494791 w 6408310"/>
              <a:gd name="connsiteY102" fmla="*/ 3723556 h 6912725"/>
              <a:gd name="connsiteX103" fmla="*/ 490230 w 6408310"/>
              <a:gd name="connsiteY103" fmla="*/ 3508893 h 6912725"/>
              <a:gd name="connsiteX104" fmla="*/ 484223 w 6408310"/>
              <a:gd name="connsiteY104" fmla="*/ 3233179 h 6912725"/>
              <a:gd name="connsiteX105" fmla="*/ 460329 w 6408310"/>
              <a:gd name="connsiteY105" fmla="*/ 3041244 h 6912725"/>
              <a:gd name="connsiteX106" fmla="*/ 407197 w 6408310"/>
              <a:gd name="connsiteY106" fmla="*/ 2812292 h 6912725"/>
              <a:gd name="connsiteX107" fmla="*/ 386122 w 6408310"/>
              <a:gd name="connsiteY107" fmla="*/ 2757841 h 6912725"/>
              <a:gd name="connsiteX108" fmla="*/ 363684 w 6408310"/>
              <a:gd name="connsiteY108" fmla="*/ 2714608 h 6912725"/>
              <a:gd name="connsiteX109" fmla="*/ 330746 w 6408310"/>
              <a:gd name="connsiteY109" fmla="*/ 2625146 h 6912725"/>
              <a:gd name="connsiteX110" fmla="*/ 299927 w 6408310"/>
              <a:gd name="connsiteY110" fmla="*/ 2566177 h 6912725"/>
              <a:gd name="connsiteX111" fmla="*/ 288272 w 6408310"/>
              <a:gd name="connsiteY111" fmla="*/ 2439923 h 6912725"/>
              <a:gd name="connsiteX112" fmla="*/ 233611 w 6408310"/>
              <a:gd name="connsiteY112" fmla="*/ 2326248 h 6912725"/>
              <a:gd name="connsiteX113" fmla="*/ 115057 w 6408310"/>
              <a:gd name="connsiteY113" fmla="*/ 2127916 h 691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408310" h="6912725">
                <a:moveTo>
                  <a:pt x="0" y="108934"/>
                </a:moveTo>
                <a:lnTo>
                  <a:pt x="1911522" y="0"/>
                </a:lnTo>
                <a:lnTo>
                  <a:pt x="1916026" y="4704"/>
                </a:lnTo>
                <a:cubicBezTo>
                  <a:pt x="1916562" y="7914"/>
                  <a:pt x="1915147" y="12061"/>
                  <a:pt x="1911112" y="17418"/>
                </a:cubicBezTo>
                <a:cubicBezTo>
                  <a:pt x="1943271" y="27853"/>
                  <a:pt x="1947645" y="36373"/>
                  <a:pt x="1972871" y="72530"/>
                </a:cubicBezTo>
                <a:cubicBezTo>
                  <a:pt x="1980767" y="117667"/>
                  <a:pt x="2061296" y="115435"/>
                  <a:pt x="2069180" y="173199"/>
                </a:cubicBezTo>
                <a:cubicBezTo>
                  <a:pt x="2075196" y="191586"/>
                  <a:pt x="2112853" y="231006"/>
                  <a:pt x="2131569" y="227805"/>
                </a:cubicBezTo>
                <a:cubicBezTo>
                  <a:pt x="2141808" y="233828"/>
                  <a:pt x="2146631" y="247405"/>
                  <a:pt x="2162747" y="239714"/>
                </a:cubicBezTo>
                <a:cubicBezTo>
                  <a:pt x="2183739" y="232191"/>
                  <a:pt x="2206491" y="310465"/>
                  <a:pt x="2220499" y="289903"/>
                </a:cubicBezTo>
                <a:cubicBezTo>
                  <a:pt x="2257038" y="315132"/>
                  <a:pt x="2344409" y="362107"/>
                  <a:pt x="2381978" y="391093"/>
                </a:cubicBezTo>
                <a:cubicBezTo>
                  <a:pt x="2419547" y="420079"/>
                  <a:pt x="2445794" y="442621"/>
                  <a:pt x="2445910" y="463815"/>
                </a:cubicBezTo>
                <a:cubicBezTo>
                  <a:pt x="2462109" y="546053"/>
                  <a:pt x="2496860" y="553382"/>
                  <a:pt x="2531236" y="600817"/>
                </a:cubicBezTo>
                <a:cubicBezTo>
                  <a:pt x="2573647" y="650501"/>
                  <a:pt x="2589314" y="613369"/>
                  <a:pt x="2617149" y="703748"/>
                </a:cubicBezTo>
                <a:cubicBezTo>
                  <a:pt x="2635983" y="695546"/>
                  <a:pt x="2643943" y="702017"/>
                  <a:pt x="2650333" y="720900"/>
                </a:cubicBezTo>
                <a:cubicBezTo>
                  <a:pt x="2671881" y="743975"/>
                  <a:pt x="2701744" y="706344"/>
                  <a:pt x="2705541" y="750090"/>
                </a:cubicBezTo>
                <a:cubicBezTo>
                  <a:pt x="2730861" y="760850"/>
                  <a:pt x="2742856" y="778498"/>
                  <a:pt x="2757210" y="789489"/>
                </a:cubicBezTo>
                <a:cubicBezTo>
                  <a:pt x="2776836" y="801882"/>
                  <a:pt x="2774652" y="796949"/>
                  <a:pt x="2791660" y="816041"/>
                </a:cubicBezTo>
                <a:cubicBezTo>
                  <a:pt x="2815343" y="835699"/>
                  <a:pt x="2784183" y="871086"/>
                  <a:pt x="2840975" y="842225"/>
                </a:cubicBezTo>
                <a:cubicBezTo>
                  <a:pt x="2854681" y="875427"/>
                  <a:pt x="2877032" y="859395"/>
                  <a:pt x="2917970" y="879392"/>
                </a:cubicBezTo>
                <a:cubicBezTo>
                  <a:pt x="2921487" y="903353"/>
                  <a:pt x="2937122" y="907916"/>
                  <a:pt x="2957236" y="906835"/>
                </a:cubicBezTo>
                <a:lnTo>
                  <a:pt x="3117215" y="1073714"/>
                </a:lnTo>
                <a:cubicBezTo>
                  <a:pt x="3153906" y="1089285"/>
                  <a:pt x="3232612" y="1124062"/>
                  <a:pt x="3250958" y="1130397"/>
                </a:cubicBezTo>
                <a:cubicBezTo>
                  <a:pt x="3409574" y="1172733"/>
                  <a:pt x="3456045" y="1237431"/>
                  <a:pt x="3496717" y="1260412"/>
                </a:cubicBezTo>
                <a:lnTo>
                  <a:pt x="3494992" y="1268283"/>
                </a:lnTo>
                <a:cubicBezTo>
                  <a:pt x="3495362" y="1274688"/>
                  <a:pt x="3498760" y="1281160"/>
                  <a:pt x="3508993" y="1287737"/>
                </a:cubicBezTo>
                <a:lnTo>
                  <a:pt x="3512115" y="1288544"/>
                </a:lnTo>
                <a:lnTo>
                  <a:pt x="3548697" y="1363739"/>
                </a:lnTo>
                <a:cubicBezTo>
                  <a:pt x="3572773" y="1395571"/>
                  <a:pt x="3623148" y="1421050"/>
                  <a:pt x="3656567" y="1479533"/>
                </a:cubicBezTo>
                <a:lnTo>
                  <a:pt x="3661987" y="1491779"/>
                </a:lnTo>
                <a:lnTo>
                  <a:pt x="3667389" y="1495409"/>
                </a:lnTo>
                <a:lnTo>
                  <a:pt x="3800461" y="1696689"/>
                </a:lnTo>
                <a:cubicBezTo>
                  <a:pt x="3835546" y="1747791"/>
                  <a:pt x="3913146" y="1811386"/>
                  <a:pt x="3933737" y="1853325"/>
                </a:cubicBezTo>
                <a:lnTo>
                  <a:pt x="3946446" y="1903446"/>
                </a:lnTo>
                <a:lnTo>
                  <a:pt x="3960581" y="1913244"/>
                </a:lnTo>
                <a:cubicBezTo>
                  <a:pt x="3979608" y="1926434"/>
                  <a:pt x="3998210" y="1940240"/>
                  <a:pt x="4015111" y="1956512"/>
                </a:cubicBezTo>
                <a:cubicBezTo>
                  <a:pt x="4083226" y="1956238"/>
                  <a:pt x="4031943" y="1969929"/>
                  <a:pt x="4070740" y="1999693"/>
                </a:cubicBezTo>
                <a:cubicBezTo>
                  <a:pt x="4027554" y="2022282"/>
                  <a:pt x="4128681" y="2025600"/>
                  <a:pt x="4091495" y="2064313"/>
                </a:cubicBezTo>
                <a:cubicBezTo>
                  <a:pt x="4099733" y="2068504"/>
                  <a:pt x="4108887" y="2071343"/>
                  <a:pt x="4118353" y="2073901"/>
                </a:cubicBezTo>
                <a:lnTo>
                  <a:pt x="4123293" y="2075261"/>
                </a:lnTo>
                <a:lnTo>
                  <a:pt x="4166582" y="2120685"/>
                </a:lnTo>
                <a:lnTo>
                  <a:pt x="4213721" y="2168493"/>
                </a:lnTo>
                <a:lnTo>
                  <a:pt x="4250795" y="2261746"/>
                </a:lnTo>
                <a:lnTo>
                  <a:pt x="4295408" y="2340515"/>
                </a:lnTo>
                <a:cubicBezTo>
                  <a:pt x="4303294" y="2350172"/>
                  <a:pt x="4311232" y="2360551"/>
                  <a:pt x="4318976" y="2371504"/>
                </a:cubicBezTo>
                <a:lnTo>
                  <a:pt x="4323314" y="2378166"/>
                </a:lnTo>
                <a:cubicBezTo>
                  <a:pt x="4323288" y="2378269"/>
                  <a:pt x="4323261" y="2378372"/>
                  <a:pt x="4323235" y="2378475"/>
                </a:cubicBezTo>
                <a:cubicBezTo>
                  <a:pt x="4323820" y="2380303"/>
                  <a:pt x="4325112" y="2382633"/>
                  <a:pt x="4327479" y="2385858"/>
                </a:cubicBezTo>
                <a:lnTo>
                  <a:pt x="4331226" y="2390318"/>
                </a:lnTo>
                <a:lnTo>
                  <a:pt x="4339643" y="2403246"/>
                </a:lnTo>
                <a:lnTo>
                  <a:pt x="4341435" y="2408870"/>
                </a:lnTo>
                <a:lnTo>
                  <a:pt x="4340548" y="2412798"/>
                </a:lnTo>
                <a:lnTo>
                  <a:pt x="4351634" y="2443869"/>
                </a:lnTo>
                <a:cubicBezTo>
                  <a:pt x="4370557" y="2458176"/>
                  <a:pt x="4365119" y="2472379"/>
                  <a:pt x="4380688" y="2504819"/>
                </a:cubicBezTo>
                <a:cubicBezTo>
                  <a:pt x="4393528" y="2510493"/>
                  <a:pt x="4397884" y="2522485"/>
                  <a:pt x="4399892" y="2537002"/>
                </a:cubicBezTo>
                <a:cubicBezTo>
                  <a:pt x="4420218" y="2562143"/>
                  <a:pt x="4430910" y="2594831"/>
                  <a:pt x="4449690" y="2628144"/>
                </a:cubicBezTo>
                <a:cubicBezTo>
                  <a:pt x="4468446" y="2678770"/>
                  <a:pt x="4488860" y="2772681"/>
                  <a:pt x="4512427" y="2840755"/>
                </a:cubicBezTo>
                <a:lnTo>
                  <a:pt x="4591091" y="3036586"/>
                </a:lnTo>
                <a:cubicBezTo>
                  <a:pt x="4639934" y="3158078"/>
                  <a:pt x="4730818" y="3310586"/>
                  <a:pt x="4757297" y="3388741"/>
                </a:cubicBezTo>
                <a:cubicBezTo>
                  <a:pt x="4756620" y="3412898"/>
                  <a:pt x="4755942" y="3437054"/>
                  <a:pt x="4755264" y="3461211"/>
                </a:cubicBezTo>
                <a:cubicBezTo>
                  <a:pt x="4763881" y="3469559"/>
                  <a:pt x="4774382" y="3498341"/>
                  <a:pt x="4776842" y="3503606"/>
                </a:cubicBezTo>
                <a:cubicBezTo>
                  <a:pt x="4776789" y="3503947"/>
                  <a:pt x="4816006" y="3543555"/>
                  <a:pt x="4815953" y="3543897"/>
                </a:cubicBezTo>
                <a:lnTo>
                  <a:pt x="4826382" y="3589602"/>
                </a:lnTo>
                <a:cubicBezTo>
                  <a:pt x="4854724" y="3618181"/>
                  <a:pt x="4872282" y="3672884"/>
                  <a:pt x="4900664" y="3697326"/>
                </a:cubicBezTo>
                <a:cubicBezTo>
                  <a:pt x="4872593" y="3751610"/>
                  <a:pt x="4889332" y="3712092"/>
                  <a:pt x="4944717" y="3795461"/>
                </a:cubicBezTo>
                <a:cubicBezTo>
                  <a:pt x="4981269" y="3830092"/>
                  <a:pt x="4951776" y="3836266"/>
                  <a:pt x="4981260" y="3887734"/>
                </a:cubicBezTo>
                <a:cubicBezTo>
                  <a:pt x="4992187" y="3900180"/>
                  <a:pt x="5000945" y="3922491"/>
                  <a:pt x="5000423" y="3933089"/>
                </a:cubicBezTo>
                <a:lnTo>
                  <a:pt x="5033013" y="3937041"/>
                </a:lnTo>
                <a:lnTo>
                  <a:pt x="5081597" y="4013154"/>
                </a:lnTo>
                <a:lnTo>
                  <a:pt x="5088052" y="4027525"/>
                </a:lnTo>
                <a:lnTo>
                  <a:pt x="5189054" y="4098668"/>
                </a:lnTo>
                <a:lnTo>
                  <a:pt x="5228545" y="4146658"/>
                </a:lnTo>
                <a:lnTo>
                  <a:pt x="5268336" y="4194504"/>
                </a:lnTo>
                <a:cubicBezTo>
                  <a:pt x="5282676" y="4201217"/>
                  <a:pt x="5302948" y="4267012"/>
                  <a:pt x="5317950" y="4267325"/>
                </a:cubicBezTo>
                <a:cubicBezTo>
                  <a:pt x="5371561" y="4431932"/>
                  <a:pt x="5512417" y="4438996"/>
                  <a:pt x="5598270" y="4563876"/>
                </a:cubicBezTo>
                <a:cubicBezTo>
                  <a:pt x="5684123" y="4688756"/>
                  <a:pt x="5658748" y="4766617"/>
                  <a:pt x="5833068" y="5016605"/>
                </a:cubicBezTo>
                <a:cubicBezTo>
                  <a:pt x="5917959" y="5167124"/>
                  <a:pt x="6007541" y="5258633"/>
                  <a:pt x="6045916" y="5405287"/>
                </a:cubicBezTo>
                <a:cubicBezTo>
                  <a:pt x="6053001" y="5431110"/>
                  <a:pt x="6137180" y="5517469"/>
                  <a:pt x="6117737" y="5538137"/>
                </a:cubicBezTo>
                <a:cubicBezTo>
                  <a:pt x="6096856" y="5567956"/>
                  <a:pt x="6185855" y="5633330"/>
                  <a:pt x="6144230" y="5635151"/>
                </a:cubicBezTo>
                <a:cubicBezTo>
                  <a:pt x="6206267" y="5682015"/>
                  <a:pt x="6167034" y="5753331"/>
                  <a:pt x="6176742" y="5809044"/>
                </a:cubicBezTo>
                <a:cubicBezTo>
                  <a:pt x="6181644" y="5871497"/>
                  <a:pt x="6197878" y="5926431"/>
                  <a:pt x="6245199" y="6038018"/>
                </a:cubicBezTo>
                <a:cubicBezTo>
                  <a:pt x="6276717" y="6104340"/>
                  <a:pt x="6288745" y="6124315"/>
                  <a:pt x="6303931" y="6175618"/>
                </a:cubicBezTo>
                <a:cubicBezTo>
                  <a:pt x="6319117" y="6226921"/>
                  <a:pt x="6298592" y="6320971"/>
                  <a:pt x="6336313" y="6345837"/>
                </a:cubicBezTo>
                <a:cubicBezTo>
                  <a:pt x="6368454" y="6400251"/>
                  <a:pt x="6388884" y="6464262"/>
                  <a:pt x="6401195" y="6542084"/>
                </a:cubicBezTo>
                <a:lnTo>
                  <a:pt x="6408310" y="6612865"/>
                </a:lnTo>
                <a:lnTo>
                  <a:pt x="1146484" y="6912725"/>
                </a:lnTo>
                <a:lnTo>
                  <a:pt x="1108438" y="6825083"/>
                </a:lnTo>
                <a:cubicBezTo>
                  <a:pt x="1057133" y="6684904"/>
                  <a:pt x="1090669" y="6637010"/>
                  <a:pt x="997867" y="6378703"/>
                </a:cubicBezTo>
                <a:cubicBezTo>
                  <a:pt x="956253" y="6228487"/>
                  <a:pt x="874761" y="6010797"/>
                  <a:pt x="858750" y="5923784"/>
                </a:cubicBezTo>
                <a:cubicBezTo>
                  <a:pt x="856924" y="5899993"/>
                  <a:pt x="844018" y="5873122"/>
                  <a:pt x="860408" y="5860728"/>
                </a:cubicBezTo>
                <a:cubicBezTo>
                  <a:pt x="878957" y="5840950"/>
                  <a:pt x="823834" y="5761906"/>
                  <a:pt x="853644" y="5771381"/>
                </a:cubicBezTo>
                <a:cubicBezTo>
                  <a:pt x="815383" y="5715186"/>
                  <a:pt x="852133" y="5665047"/>
                  <a:pt x="852164" y="5615193"/>
                </a:cubicBezTo>
                <a:cubicBezTo>
                  <a:pt x="817076" y="5571334"/>
                  <a:pt x="851740" y="5509975"/>
                  <a:pt x="831986" y="5402745"/>
                </a:cubicBezTo>
                <a:cubicBezTo>
                  <a:pt x="792037" y="5354630"/>
                  <a:pt x="819063" y="5330513"/>
                  <a:pt x="759590" y="5239800"/>
                </a:cubicBezTo>
                <a:cubicBezTo>
                  <a:pt x="762665" y="5236543"/>
                  <a:pt x="765245" y="5232371"/>
                  <a:pt x="767251" y="5227414"/>
                </a:cubicBezTo>
                <a:cubicBezTo>
                  <a:pt x="778914" y="5198604"/>
                  <a:pt x="769142" y="5150045"/>
                  <a:pt x="745427" y="5118958"/>
                </a:cubicBezTo>
                <a:cubicBezTo>
                  <a:pt x="660991" y="4975263"/>
                  <a:pt x="672599" y="4907855"/>
                  <a:pt x="635950" y="4788294"/>
                </a:cubicBezTo>
                <a:cubicBezTo>
                  <a:pt x="600650" y="4653678"/>
                  <a:pt x="646752" y="4690694"/>
                  <a:pt x="558787" y="4518070"/>
                </a:cubicBezTo>
                <a:cubicBezTo>
                  <a:pt x="577057" y="4502442"/>
                  <a:pt x="573633" y="4481342"/>
                  <a:pt x="555530" y="4444433"/>
                </a:cubicBezTo>
                <a:cubicBezTo>
                  <a:pt x="540027" y="4379200"/>
                  <a:pt x="596616" y="4390343"/>
                  <a:pt x="549378" y="4320965"/>
                </a:cubicBezTo>
                <a:cubicBezTo>
                  <a:pt x="581692" y="4336040"/>
                  <a:pt x="535024" y="4198883"/>
                  <a:pt x="572361" y="4232369"/>
                </a:cubicBezTo>
                <a:cubicBezTo>
                  <a:pt x="590648" y="4193014"/>
                  <a:pt x="541489" y="4167113"/>
                  <a:pt x="556288" y="4127673"/>
                </a:cubicBezTo>
                <a:lnTo>
                  <a:pt x="506660" y="3821119"/>
                </a:lnTo>
                <a:cubicBezTo>
                  <a:pt x="481478" y="3781010"/>
                  <a:pt x="483894" y="3751446"/>
                  <a:pt x="494791" y="3723556"/>
                </a:cubicBezTo>
                <a:cubicBezTo>
                  <a:pt x="472516" y="3634460"/>
                  <a:pt x="499836" y="3607209"/>
                  <a:pt x="490230" y="3508893"/>
                </a:cubicBezTo>
                <a:cubicBezTo>
                  <a:pt x="525541" y="3397546"/>
                  <a:pt x="482951" y="3307116"/>
                  <a:pt x="484223" y="3233179"/>
                </a:cubicBezTo>
                <a:cubicBezTo>
                  <a:pt x="465844" y="3133672"/>
                  <a:pt x="460855" y="3219289"/>
                  <a:pt x="460329" y="3041244"/>
                </a:cubicBezTo>
                <a:lnTo>
                  <a:pt x="407197" y="2812292"/>
                </a:lnTo>
                <a:cubicBezTo>
                  <a:pt x="391019" y="2768219"/>
                  <a:pt x="344571" y="2745090"/>
                  <a:pt x="386122" y="2757841"/>
                </a:cubicBezTo>
                <a:cubicBezTo>
                  <a:pt x="381879" y="2743275"/>
                  <a:pt x="360306" y="2721346"/>
                  <a:pt x="363684" y="2714608"/>
                </a:cubicBezTo>
                <a:lnTo>
                  <a:pt x="330746" y="2625146"/>
                </a:lnTo>
                <a:lnTo>
                  <a:pt x="299927" y="2566177"/>
                </a:lnTo>
                <a:cubicBezTo>
                  <a:pt x="300505" y="2524092"/>
                  <a:pt x="287694" y="2482008"/>
                  <a:pt x="288272" y="2439923"/>
                </a:cubicBezTo>
                <a:cubicBezTo>
                  <a:pt x="243273" y="2349673"/>
                  <a:pt x="278610" y="2382839"/>
                  <a:pt x="233611" y="2326248"/>
                </a:cubicBezTo>
                <a:lnTo>
                  <a:pt x="115057" y="212791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tel 1">
            <a:extLst>
              <a:ext uri="{FF2B5EF4-FFF2-40B4-BE49-F238E27FC236}">
                <a16:creationId xmlns:a16="http://schemas.microsoft.com/office/drawing/2014/main" id="{936C30AB-CB2C-7FD9-3052-F778F9AE6920}"/>
              </a:ext>
            </a:extLst>
          </p:cNvPr>
          <p:cNvSpPr>
            <a:spLocks noGrp="1"/>
          </p:cNvSpPr>
          <p:nvPr>
            <p:ph type="title"/>
          </p:nvPr>
        </p:nvSpPr>
        <p:spPr>
          <a:xfrm>
            <a:off x="1137685" y="3641651"/>
            <a:ext cx="4055418" cy="2146374"/>
          </a:xfrm>
        </p:spPr>
        <p:txBody>
          <a:bodyPr anchor="b">
            <a:normAutofit/>
          </a:bodyPr>
          <a:lstStyle/>
          <a:p>
            <a:r>
              <a:rPr lang="nb-NO">
                <a:solidFill>
                  <a:schemeClr val="tx1">
                    <a:lumMod val="85000"/>
                    <a:lumOff val="15000"/>
                  </a:schemeClr>
                </a:solidFill>
              </a:rPr>
              <a:t>Modbus TCP</a:t>
            </a:r>
          </a:p>
        </p:txBody>
      </p:sp>
      <p:sp>
        <p:nvSpPr>
          <p:cNvPr id="3" name="Plassholder for innhold 2">
            <a:extLst>
              <a:ext uri="{FF2B5EF4-FFF2-40B4-BE49-F238E27FC236}">
                <a16:creationId xmlns:a16="http://schemas.microsoft.com/office/drawing/2014/main" id="{DC4679F9-413E-2617-7886-3648B82ACF78}"/>
              </a:ext>
            </a:extLst>
          </p:cNvPr>
          <p:cNvSpPr>
            <a:spLocks noGrp="1"/>
          </p:cNvSpPr>
          <p:nvPr>
            <p:ph idx="1"/>
          </p:nvPr>
        </p:nvSpPr>
        <p:spPr>
          <a:xfrm>
            <a:off x="6096000" y="896469"/>
            <a:ext cx="5046196" cy="5323356"/>
          </a:xfrm>
        </p:spPr>
        <p:txBody>
          <a:bodyPr>
            <a:normAutofit/>
          </a:bodyPr>
          <a:lstStyle/>
          <a:p>
            <a:r>
              <a:rPr lang="nb-NO" sz="1700">
                <a:solidFill>
                  <a:schemeClr val="tx1">
                    <a:lumMod val="85000"/>
                    <a:lumOff val="15000"/>
                  </a:schemeClr>
                </a:solidFill>
              </a:rPr>
              <a:t>Industrial communication protocol</a:t>
            </a:r>
          </a:p>
          <a:p>
            <a:r>
              <a:rPr lang="nb-NO" sz="1700">
                <a:solidFill>
                  <a:schemeClr val="tx1">
                    <a:lumMod val="85000"/>
                    <a:lumOff val="15000"/>
                  </a:schemeClr>
                </a:solidFill>
              </a:rPr>
              <a:t>Used Coils and Holding Registers</a:t>
            </a:r>
          </a:p>
          <a:p>
            <a:r>
              <a:rPr lang="nb-NO" sz="1700">
                <a:solidFill>
                  <a:schemeClr val="tx1">
                    <a:lumMod val="85000"/>
                    <a:lumOff val="15000"/>
                  </a:schemeClr>
                </a:solidFill>
              </a:rPr>
              <a:t>Used Pymodbus</a:t>
            </a:r>
          </a:p>
          <a:p>
            <a:r>
              <a:rPr lang="nb-NO" sz="1700">
                <a:solidFill>
                  <a:schemeClr val="tx1">
                    <a:lumMod val="85000"/>
                    <a:lumOff val="15000"/>
                  </a:schemeClr>
                </a:solidFill>
              </a:rPr>
              <a:t>Send integers lower than 65535</a:t>
            </a:r>
          </a:p>
          <a:p>
            <a:r>
              <a:rPr lang="nb-NO" sz="1700">
                <a:solidFill>
                  <a:schemeClr val="tx1">
                    <a:lumMod val="85000"/>
                    <a:lumOff val="15000"/>
                  </a:schemeClr>
                </a:solidFill>
              </a:rPr>
              <a:t>Limit of 100 holding registers per IP adresse</a:t>
            </a:r>
          </a:p>
          <a:p>
            <a:r>
              <a:rPr lang="nb-NO" sz="1700">
                <a:solidFill>
                  <a:schemeClr val="tx1">
                    <a:lumMod val="85000"/>
                    <a:lumOff val="15000"/>
                  </a:schemeClr>
                </a:solidFill>
              </a:rPr>
              <a:t>Solution:</a:t>
            </a:r>
          </a:p>
          <a:p>
            <a:pPr lvl="1"/>
            <a:r>
              <a:rPr lang="nb-NO" sz="1700">
                <a:solidFill>
                  <a:schemeClr val="tx1">
                    <a:lumMod val="85000"/>
                    <a:lumOff val="15000"/>
                  </a:schemeClr>
                </a:solidFill>
              </a:rPr>
              <a:t>Create one string</a:t>
            </a:r>
          </a:p>
          <a:p>
            <a:pPr lvl="1"/>
            <a:r>
              <a:rPr lang="nb-NO" sz="1700">
                <a:solidFill>
                  <a:schemeClr val="tx1">
                    <a:lumMod val="85000"/>
                    <a:lumOff val="15000"/>
                  </a:schemeClr>
                </a:solidFill>
              </a:rPr>
              <a:t>Turn message into byte and encode to int</a:t>
            </a:r>
          </a:p>
          <a:p>
            <a:pPr lvl="1"/>
            <a:r>
              <a:rPr lang="nb-NO" sz="1700">
                <a:solidFill>
                  <a:schemeClr val="tx1">
                    <a:lumMod val="85000"/>
                    <a:lumOff val="15000"/>
                  </a:schemeClr>
                </a:solidFill>
              </a:rPr>
              <a:t>Split into chunks smaller than limit</a:t>
            </a:r>
          </a:p>
          <a:p>
            <a:pPr lvl="1"/>
            <a:r>
              <a:rPr lang="nb-NO" sz="1700">
                <a:solidFill>
                  <a:schemeClr val="tx1">
                    <a:lumMod val="85000"/>
                    <a:lumOff val="15000"/>
                  </a:schemeClr>
                </a:solidFill>
              </a:rPr>
              <a:t>Send, and use coils to say if register has been updated</a:t>
            </a:r>
          </a:p>
          <a:p>
            <a:pPr lvl="1"/>
            <a:r>
              <a:rPr lang="nb-NO" sz="1700">
                <a:solidFill>
                  <a:schemeClr val="tx1">
                    <a:lumMod val="85000"/>
                    <a:lumOff val="15000"/>
                  </a:schemeClr>
                </a:solidFill>
              </a:rPr>
              <a:t>Reciver reads coil and register, then decodes.</a:t>
            </a:r>
          </a:p>
          <a:p>
            <a:r>
              <a:rPr lang="nb-NO" sz="1700">
                <a:solidFill>
                  <a:schemeClr val="tx1">
                    <a:lumMod val="85000"/>
                    <a:lumOff val="15000"/>
                  </a:schemeClr>
                </a:solidFill>
              </a:rPr>
              <a:t>Can only use two heaters per IP adresse, since message needs 50 holding registers.</a:t>
            </a:r>
          </a:p>
        </p:txBody>
      </p:sp>
    </p:spTree>
    <p:extLst>
      <p:ext uri="{BB962C8B-B14F-4D97-AF65-F5344CB8AC3E}">
        <p14:creationId xmlns:p14="http://schemas.microsoft.com/office/powerpoint/2010/main" val="2456013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018392B7-096F-CEF7-9B5E-14B14FD642FE}"/>
              </a:ext>
            </a:extLst>
          </p:cNvPr>
          <p:cNvSpPr>
            <a:spLocks noGrp="1"/>
          </p:cNvSpPr>
          <p:nvPr>
            <p:ph type="title"/>
          </p:nvPr>
        </p:nvSpPr>
        <p:spPr>
          <a:xfrm>
            <a:off x="645065" y="1463040"/>
            <a:ext cx="3796306" cy="2690949"/>
          </a:xfrm>
        </p:spPr>
        <p:txBody>
          <a:bodyPr anchor="t">
            <a:normAutofit/>
          </a:bodyPr>
          <a:lstStyle/>
          <a:p>
            <a:r>
              <a:rPr lang="nb-NO" sz="4800"/>
              <a:t>Cosmos DB</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ssholder for innhold 2">
            <a:extLst>
              <a:ext uri="{FF2B5EF4-FFF2-40B4-BE49-F238E27FC236}">
                <a16:creationId xmlns:a16="http://schemas.microsoft.com/office/drawing/2014/main" id="{3BBC5A37-4C53-274F-39B8-BD60CD5C8E44}"/>
              </a:ext>
            </a:extLst>
          </p:cNvPr>
          <p:cNvSpPr>
            <a:spLocks noGrp="1"/>
          </p:cNvSpPr>
          <p:nvPr>
            <p:ph idx="1"/>
          </p:nvPr>
        </p:nvSpPr>
        <p:spPr>
          <a:xfrm>
            <a:off x="5656218" y="1463039"/>
            <a:ext cx="5542387" cy="4300447"/>
          </a:xfrm>
        </p:spPr>
        <p:txBody>
          <a:bodyPr anchor="t">
            <a:normAutofit/>
          </a:bodyPr>
          <a:lstStyle/>
          <a:p>
            <a:r>
              <a:rPr lang="nb-NO" sz="2200"/>
              <a:t>Set up database in Cosmos DB running online on Microsoft Azure</a:t>
            </a:r>
          </a:p>
          <a:p>
            <a:r>
              <a:rPr lang="nb-NO" sz="2200"/>
              <a:t>Logs Time, Temperature and Sensor</a:t>
            </a:r>
          </a:p>
        </p:txBody>
      </p:sp>
    </p:spTree>
    <p:extLst>
      <p:ext uri="{BB962C8B-B14F-4D97-AF65-F5344CB8AC3E}">
        <p14:creationId xmlns:p14="http://schemas.microsoft.com/office/powerpoint/2010/main" val="1160892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1F89F814-6D25-FFF2-C0A8-24477180044E}"/>
              </a:ext>
            </a:extLst>
          </p:cNvPr>
          <p:cNvSpPr>
            <a:spLocks noGrp="1"/>
          </p:cNvSpPr>
          <p:nvPr>
            <p:ph type="title"/>
          </p:nvPr>
        </p:nvSpPr>
        <p:spPr>
          <a:xfrm>
            <a:off x="1153618" y="1239927"/>
            <a:ext cx="4008586" cy="4680583"/>
          </a:xfrm>
        </p:spPr>
        <p:txBody>
          <a:bodyPr anchor="ctr">
            <a:normAutofit/>
          </a:bodyPr>
          <a:lstStyle/>
          <a:p>
            <a:r>
              <a:rPr lang="nb-NO" sz="5200"/>
              <a:t>Web App</a:t>
            </a:r>
          </a:p>
        </p:txBody>
      </p:sp>
      <p:sp>
        <p:nvSpPr>
          <p:cNvPr id="3" name="Plassholder for innhold 2">
            <a:extLst>
              <a:ext uri="{FF2B5EF4-FFF2-40B4-BE49-F238E27FC236}">
                <a16:creationId xmlns:a16="http://schemas.microsoft.com/office/drawing/2014/main" id="{1C742939-003F-CD7E-21DD-1D46A550E345}"/>
              </a:ext>
            </a:extLst>
          </p:cNvPr>
          <p:cNvSpPr>
            <a:spLocks noGrp="1"/>
          </p:cNvSpPr>
          <p:nvPr>
            <p:ph idx="1"/>
          </p:nvPr>
        </p:nvSpPr>
        <p:spPr>
          <a:xfrm>
            <a:off x="6291923" y="1239927"/>
            <a:ext cx="4971824" cy="4680583"/>
          </a:xfrm>
        </p:spPr>
        <p:txBody>
          <a:bodyPr anchor="ctr">
            <a:normAutofit/>
          </a:bodyPr>
          <a:lstStyle/>
          <a:p>
            <a:r>
              <a:rPr lang="nb-NO" sz="2000" dirty="0" err="1"/>
              <a:t>Developed</a:t>
            </a:r>
            <a:r>
              <a:rPr lang="nb-NO" sz="2000" dirty="0"/>
              <a:t> </a:t>
            </a:r>
            <a:r>
              <a:rPr lang="nb-NO" sz="2000" dirty="0" err="1"/>
              <a:t>using</a:t>
            </a:r>
            <a:r>
              <a:rPr lang="nb-NO" sz="2000" dirty="0"/>
              <a:t> </a:t>
            </a:r>
            <a:r>
              <a:rPr lang="nb-NO" sz="2000" dirty="0" err="1"/>
              <a:t>ChatGPT</a:t>
            </a:r>
            <a:endParaRPr lang="nb-NO" sz="2000" dirty="0"/>
          </a:p>
          <a:p>
            <a:r>
              <a:rPr lang="nb-NO" sz="2000" dirty="0" err="1"/>
              <a:t>Gets</a:t>
            </a:r>
            <a:r>
              <a:rPr lang="nb-NO" sz="2000" dirty="0"/>
              <a:t> data from database</a:t>
            </a:r>
          </a:p>
          <a:p>
            <a:r>
              <a:rPr lang="nb-NO" sz="2000" dirty="0"/>
              <a:t>Displays </a:t>
            </a:r>
            <a:r>
              <a:rPr lang="nb-NO" sz="2000" dirty="0" err="1"/>
              <a:t>graph</a:t>
            </a:r>
            <a:endParaRPr lang="nb-NO" sz="2000" dirty="0"/>
          </a:p>
          <a:p>
            <a:r>
              <a:rPr lang="nb-NO" sz="2000" dirty="0"/>
              <a:t>Updates </a:t>
            </a:r>
            <a:r>
              <a:rPr lang="nb-NO" sz="2000" dirty="0" err="1"/>
              <a:t>every</a:t>
            </a:r>
            <a:r>
              <a:rPr lang="nb-NO" sz="2000" dirty="0"/>
              <a:t> </a:t>
            </a:r>
            <a:r>
              <a:rPr lang="nb-NO" sz="2000" dirty="0" err="1"/>
              <a:t>minute</a:t>
            </a:r>
            <a:endParaRPr lang="nb-NO" sz="2000" dirty="0"/>
          </a:p>
          <a:p>
            <a:r>
              <a:rPr lang="nb-NO" sz="2000" dirty="0" err="1"/>
              <a:t>Can</a:t>
            </a:r>
            <a:r>
              <a:rPr lang="nb-NO" sz="2000" dirty="0"/>
              <a:t> </a:t>
            </a:r>
            <a:r>
              <a:rPr lang="nb-NO" sz="2000" dirty="0" err="1"/>
              <a:t>choose</a:t>
            </a:r>
            <a:r>
              <a:rPr lang="nb-NO" sz="2000" dirty="0"/>
              <a:t> </a:t>
            </a:r>
            <a:r>
              <a:rPr lang="nb-NO" sz="2000" dirty="0" err="1"/>
              <a:t>which</a:t>
            </a:r>
            <a:r>
              <a:rPr lang="nb-NO" sz="2000" dirty="0"/>
              <a:t> sensor to plot</a:t>
            </a:r>
          </a:p>
        </p:txBody>
      </p:sp>
    </p:spTree>
    <p:extLst>
      <p:ext uri="{BB962C8B-B14F-4D97-AF65-F5344CB8AC3E}">
        <p14:creationId xmlns:p14="http://schemas.microsoft.com/office/powerpoint/2010/main" val="2407857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5D07D07A-C4A9-A4BE-A048-CC1FD1A208E0}"/>
              </a:ext>
            </a:extLst>
          </p:cNvPr>
          <p:cNvSpPr>
            <a:spLocks noGrp="1"/>
          </p:cNvSpPr>
          <p:nvPr>
            <p:ph type="title"/>
          </p:nvPr>
        </p:nvSpPr>
        <p:spPr>
          <a:xfrm>
            <a:off x="1285241" y="1008993"/>
            <a:ext cx="9231410" cy="3542045"/>
          </a:xfrm>
        </p:spPr>
        <p:txBody>
          <a:bodyPr vert="horz" lIns="91440" tIns="45720" rIns="91440" bIns="45720" rtlCol="0" anchor="b">
            <a:normAutofit/>
          </a:bodyPr>
          <a:lstStyle/>
          <a:p>
            <a:r>
              <a:rPr lang="en-US" sz="11500" kern="1200">
                <a:solidFill>
                  <a:schemeClr val="tx1"/>
                </a:solidFill>
                <a:latin typeface="+mj-lt"/>
                <a:ea typeface="+mj-ea"/>
                <a:cs typeface="+mj-cs"/>
              </a:rPr>
              <a:t>Code view</a:t>
            </a:r>
          </a:p>
        </p:txBody>
      </p:sp>
    </p:spTree>
    <p:extLst>
      <p:ext uri="{BB962C8B-B14F-4D97-AF65-F5344CB8AC3E}">
        <p14:creationId xmlns:p14="http://schemas.microsoft.com/office/powerpoint/2010/main" val="2117532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AD9A4C0A-EF18-5E31-775B-C452B64DB7F0}"/>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solidFill>
                  <a:schemeClr val="tx1"/>
                </a:solidFill>
                <a:latin typeface="+mj-lt"/>
                <a:ea typeface="+mj-ea"/>
                <a:cs typeface="+mj-cs"/>
              </a:rPr>
              <a:t>Live Demonstration</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5228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0F5FCF15-ACA8-49D4-D1C1-CB9E799D76F1}"/>
              </a:ext>
            </a:extLst>
          </p:cNvPr>
          <p:cNvSpPr>
            <a:spLocks noGrp="1"/>
          </p:cNvSpPr>
          <p:nvPr>
            <p:ph type="title"/>
          </p:nvPr>
        </p:nvSpPr>
        <p:spPr>
          <a:xfrm>
            <a:off x="1043631" y="809898"/>
            <a:ext cx="9942716" cy="1554480"/>
          </a:xfrm>
        </p:spPr>
        <p:txBody>
          <a:bodyPr anchor="ctr">
            <a:normAutofit/>
          </a:bodyPr>
          <a:lstStyle/>
          <a:p>
            <a:r>
              <a:rPr lang="nb-NO" sz="4800"/>
              <a:t>Discussing Bugs, Problems and the Future</a:t>
            </a:r>
          </a:p>
        </p:txBody>
      </p:sp>
      <p:sp>
        <p:nvSpPr>
          <p:cNvPr id="3" name="Plassholder for innhold 2">
            <a:extLst>
              <a:ext uri="{FF2B5EF4-FFF2-40B4-BE49-F238E27FC236}">
                <a16:creationId xmlns:a16="http://schemas.microsoft.com/office/drawing/2014/main" id="{D4402EAE-5E9A-0C1E-A602-91C0CDBDF238}"/>
              </a:ext>
            </a:extLst>
          </p:cNvPr>
          <p:cNvSpPr>
            <a:spLocks noGrp="1"/>
          </p:cNvSpPr>
          <p:nvPr>
            <p:ph idx="1"/>
          </p:nvPr>
        </p:nvSpPr>
        <p:spPr>
          <a:xfrm>
            <a:off x="1045028" y="3017522"/>
            <a:ext cx="9941319" cy="3124658"/>
          </a:xfrm>
        </p:spPr>
        <p:txBody>
          <a:bodyPr anchor="ctr">
            <a:normAutofit/>
          </a:bodyPr>
          <a:lstStyle/>
          <a:p>
            <a:r>
              <a:rPr lang="nb-NO" sz="1500"/>
              <a:t>Interacting with real air heater using USB-6008 DAQ</a:t>
            </a:r>
          </a:p>
          <a:p>
            <a:r>
              <a:rPr lang="nb-NO" sz="1500"/>
              <a:t>Modbus protocol limitations</a:t>
            </a:r>
          </a:p>
          <a:p>
            <a:r>
              <a:rPr lang="nb-NO" sz="1500"/>
              <a:t>Expand GUIs and fix scaling issues</a:t>
            </a:r>
          </a:p>
          <a:p>
            <a:r>
              <a:rPr lang="nb-NO" sz="1500"/>
              <a:t>Run controller embedded on a Raspberry pi</a:t>
            </a:r>
          </a:p>
          <a:p>
            <a:r>
              <a:rPr lang="nb-NO" sz="1500"/>
              <a:t>Security</a:t>
            </a:r>
          </a:p>
          <a:p>
            <a:pPr lvl="1"/>
            <a:r>
              <a:rPr lang="nb-NO" sz="1500"/>
              <a:t>The data stored here can be used to find out if someone are home and when to rob user. Controlling heaters can also be used by hackers to cost user lots of money and make rooms unlivable.</a:t>
            </a:r>
          </a:p>
          <a:p>
            <a:pPr lvl="1"/>
            <a:r>
              <a:rPr lang="nb-NO" sz="1500"/>
              <a:t>Air heater, controller and modbus server are ment for local network use.</a:t>
            </a:r>
          </a:p>
          <a:p>
            <a:pPr lvl="1"/>
            <a:r>
              <a:rPr lang="nb-NO" sz="1500"/>
              <a:t>Database publisher uses connection string and key stored as environment variable for security. No part lets user deside what to send to server, so SQL Injections are not a problem</a:t>
            </a:r>
          </a:p>
          <a:p>
            <a:pPr lvl="1"/>
            <a:r>
              <a:rPr lang="nb-NO" sz="1500"/>
              <a:t>Future versions of web app should have a login system. Then SQL Injections could become relevant.</a:t>
            </a:r>
          </a:p>
          <a:p>
            <a:pPr lvl="1"/>
            <a:endParaRPr lang="nb-NO" sz="15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3983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Shape 10">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Arc 12">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tel 1">
            <a:extLst>
              <a:ext uri="{FF2B5EF4-FFF2-40B4-BE49-F238E27FC236}">
                <a16:creationId xmlns:a16="http://schemas.microsoft.com/office/drawing/2014/main" id="{9A327B69-0384-B4D4-D0EF-26FFCF3B377B}"/>
              </a:ext>
            </a:extLst>
          </p:cNvPr>
          <p:cNvSpPr>
            <a:spLocks noGrp="1"/>
          </p:cNvSpPr>
          <p:nvPr>
            <p:ph type="title"/>
          </p:nvPr>
        </p:nvSpPr>
        <p:spPr>
          <a:xfrm>
            <a:off x="838201" y="479493"/>
            <a:ext cx="5257800" cy="1325563"/>
          </a:xfrm>
        </p:spPr>
        <p:txBody>
          <a:bodyPr>
            <a:normAutofit/>
          </a:bodyPr>
          <a:lstStyle/>
          <a:p>
            <a:r>
              <a:rPr lang="nb-NO" dirty="0"/>
              <a:t>References</a:t>
            </a:r>
          </a:p>
        </p:txBody>
      </p:sp>
      <p:graphicFrame>
        <p:nvGraphicFramePr>
          <p:cNvPr id="4" name="Tabell 3">
            <a:extLst>
              <a:ext uri="{FF2B5EF4-FFF2-40B4-BE49-F238E27FC236}">
                <a16:creationId xmlns:a16="http://schemas.microsoft.com/office/drawing/2014/main" id="{BE5103DD-B6B7-1492-CB68-73D3BF4C79AC}"/>
              </a:ext>
            </a:extLst>
          </p:cNvPr>
          <p:cNvGraphicFramePr>
            <a:graphicFrameLocks noGrp="1"/>
          </p:cNvGraphicFramePr>
          <p:nvPr>
            <p:extLst>
              <p:ext uri="{D42A27DB-BD31-4B8C-83A1-F6EECF244321}">
                <p14:modId xmlns:p14="http://schemas.microsoft.com/office/powerpoint/2010/main" val="2758877727"/>
              </p:ext>
            </p:extLst>
          </p:nvPr>
        </p:nvGraphicFramePr>
        <p:xfrm>
          <a:off x="838201" y="2284549"/>
          <a:ext cx="9508066" cy="3667932"/>
        </p:xfrm>
        <a:graphic>
          <a:graphicData uri="http://schemas.openxmlformats.org/drawingml/2006/table">
            <a:tbl>
              <a:tblPr firstRow="1" firstCol="1" bandRow="1"/>
              <a:tblGrid>
                <a:gridCol w="581158">
                  <a:extLst>
                    <a:ext uri="{9D8B030D-6E8A-4147-A177-3AD203B41FA5}">
                      <a16:colId xmlns:a16="http://schemas.microsoft.com/office/drawing/2014/main" val="3906762188"/>
                    </a:ext>
                  </a:extLst>
                </a:gridCol>
                <a:gridCol w="8926908">
                  <a:extLst>
                    <a:ext uri="{9D8B030D-6E8A-4147-A177-3AD203B41FA5}">
                      <a16:colId xmlns:a16="http://schemas.microsoft.com/office/drawing/2014/main" val="3622209037"/>
                    </a:ext>
                  </a:extLst>
                </a:gridCol>
              </a:tblGrid>
              <a:tr h="779806">
                <a:tc>
                  <a:txBody>
                    <a:bodyPr/>
                    <a:lstStyle/>
                    <a:p>
                      <a:pPr>
                        <a:lnSpc>
                          <a:spcPct val="115000"/>
                        </a:lnSpc>
                        <a:spcAft>
                          <a:spcPts val="800"/>
                        </a:spcAft>
                        <a:buNone/>
                      </a:pPr>
                      <a:r>
                        <a:rPr lang="nb-NO" sz="1200" kern="100" dirty="0">
                          <a:effectLst/>
                          <a:latin typeface="Aptos" panose="020B0004020202020204" pitchFamily="34" charset="0"/>
                          <a:ea typeface="Aptos" panose="020B0004020202020204" pitchFamily="34" charset="0"/>
                          <a:cs typeface="Times New Roman" panose="02020603050405020304" pitchFamily="18" charset="0"/>
                        </a:rPr>
                        <a:t>[1] </a:t>
                      </a:r>
                    </a:p>
                  </a:txBody>
                  <a:tcPr marL="9525" marR="9525" marT="9525" marB="9525">
                    <a:lnL>
                      <a:noFill/>
                    </a:lnL>
                    <a:lnR>
                      <a:noFill/>
                    </a:lnR>
                    <a:lnT>
                      <a:noFill/>
                    </a:lnT>
                    <a:lnB>
                      <a:noFill/>
                    </a:lnB>
                    <a:noFill/>
                  </a:tcPr>
                </a:tc>
                <a:tc>
                  <a:txBody>
                    <a:bodyPr/>
                    <a:lstStyle/>
                    <a:p>
                      <a:pPr>
                        <a:lnSpc>
                          <a:spcPct val="115000"/>
                        </a:lnSpc>
                        <a:spcAft>
                          <a:spcPts val="800"/>
                        </a:spcAft>
                        <a:buNone/>
                      </a:pPr>
                      <a:r>
                        <a:rPr lang="nb-NO" sz="1200" kern="100" dirty="0">
                          <a:effectLst/>
                          <a:latin typeface="Aptos" panose="020B0004020202020204" pitchFamily="34" charset="0"/>
                          <a:ea typeface="Aptos" panose="020B0004020202020204" pitchFamily="34" charset="0"/>
                          <a:cs typeface="Times New Roman" panose="02020603050405020304" pitchFamily="18" charset="0"/>
                        </a:rPr>
                        <a:t>F. A. Haugen, «Lab rig: Air </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Heater</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27 September 2024. [Internett]. </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Available</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https://techteach.no/lab/air_heater/. [</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Found</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10 November 2025].</a:t>
                      </a:r>
                    </a:p>
                  </a:txBody>
                  <a:tcPr marL="9525" marR="9525" marT="9525" marB="9525">
                    <a:lnL>
                      <a:noFill/>
                    </a:lnL>
                    <a:lnR>
                      <a:noFill/>
                    </a:lnR>
                    <a:lnT>
                      <a:noFill/>
                    </a:lnT>
                    <a:lnB>
                      <a:noFill/>
                    </a:lnB>
                    <a:noFill/>
                  </a:tcPr>
                </a:tc>
                <a:extLst>
                  <a:ext uri="{0D108BD9-81ED-4DB2-BD59-A6C34878D82A}">
                    <a16:rowId xmlns:a16="http://schemas.microsoft.com/office/drawing/2014/main" val="2789489979"/>
                  </a:ext>
                </a:extLst>
              </a:tr>
              <a:tr h="779806">
                <a:tc>
                  <a:txBody>
                    <a:bodyPr/>
                    <a:lstStyle/>
                    <a:p>
                      <a:pPr>
                        <a:lnSpc>
                          <a:spcPct val="115000"/>
                        </a:lnSpc>
                        <a:spcAft>
                          <a:spcPts val="800"/>
                        </a:spcAft>
                        <a:buNone/>
                      </a:pPr>
                      <a:r>
                        <a:rPr lang="nb-NO" sz="1200" kern="100">
                          <a:effectLst/>
                          <a:latin typeface="Aptos" panose="020B0004020202020204" pitchFamily="34" charset="0"/>
                          <a:ea typeface="Aptos" panose="020B0004020202020204" pitchFamily="34" charset="0"/>
                          <a:cs typeface="Times New Roman" panose="02020603050405020304" pitchFamily="18" charset="0"/>
                        </a:rPr>
                        <a:t>[2] </a:t>
                      </a:r>
                    </a:p>
                  </a:txBody>
                  <a:tcPr marL="9525" marR="9525" marT="9525" marB="9525">
                    <a:lnL>
                      <a:noFill/>
                    </a:lnL>
                    <a:lnR>
                      <a:noFill/>
                    </a:lnR>
                    <a:lnT>
                      <a:noFill/>
                    </a:lnT>
                    <a:lnB>
                      <a:noFill/>
                    </a:lnB>
                    <a:noFill/>
                  </a:tcPr>
                </a:tc>
                <a:tc>
                  <a:txBody>
                    <a:bodyPr/>
                    <a:lstStyle/>
                    <a:p>
                      <a:pP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Python Tutorial,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Tkinter</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Tutorial,»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Internett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Available: https://www.pythontutorial.net/tkinter/. </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Found</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17 November 2025].</a:t>
                      </a:r>
                    </a:p>
                  </a:txBody>
                  <a:tcPr marL="9525" marR="9525" marT="9525" marB="9525">
                    <a:lnL>
                      <a:noFill/>
                    </a:lnL>
                    <a:lnR>
                      <a:noFill/>
                    </a:lnR>
                    <a:lnT>
                      <a:noFill/>
                    </a:lnT>
                    <a:lnB>
                      <a:noFill/>
                    </a:lnB>
                    <a:noFill/>
                  </a:tcPr>
                </a:tc>
                <a:extLst>
                  <a:ext uri="{0D108BD9-81ED-4DB2-BD59-A6C34878D82A}">
                    <a16:rowId xmlns:a16="http://schemas.microsoft.com/office/drawing/2014/main" val="853337669"/>
                  </a:ext>
                </a:extLst>
              </a:tr>
              <a:tr h="779806">
                <a:tc>
                  <a:txBody>
                    <a:bodyPr/>
                    <a:lstStyle/>
                    <a:p>
                      <a:pPr>
                        <a:lnSpc>
                          <a:spcPct val="115000"/>
                        </a:lnSpc>
                        <a:spcAft>
                          <a:spcPts val="800"/>
                        </a:spcAft>
                        <a:buNone/>
                      </a:pPr>
                      <a:r>
                        <a:rPr lang="nb-NO" sz="1200" kern="100">
                          <a:effectLst/>
                          <a:latin typeface="Aptos" panose="020B0004020202020204" pitchFamily="34" charset="0"/>
                          <a:ea typeface="Aptos" panose="020B0004020202020204" pitchFamily="34" charset="0"/>
                          <a:cs typeface="Times New Roman" panose="02020603050405020304" pitchFamily="18" charset="0"/>
                        </a:rPr>
                        <a:t>[3] </a:t>
                      </a:r>
                    </a:p>
                  </a:txBody>
                  <a:tcPr marL="9525" marR="9525" marT="9525" marB="9525">
                    <a:lnL>
                      <a:noFill/>
                    </a:lnL>
                    <a:lnR>
                      <a:noFill/>
                    </a:lnR>
                    <a:lnT>
                      <a:noFill/>
                    </a:lnT>
                    <a:lnB>
                      <a:noFill/>
                    </a:lnB>
                    <a:noFill/>
                  </a:tcPr>
                </a:tc>
                <a:tc>
                  <a:txBody>
                    <a:bodyPr/>
                    <a:lstStyle/>
                    <a:p>
                      <a:pPr>
                        <a:lnSpc>
                          <a:spcPct val="115000"/>
                        </a:lnSpc>
                        <a:spcAft>
                          <a:spcPts val="800"/>
                        </a:spcAft>
                        <a:buNone/>
                      </a:pP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bashwork</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og j. </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dhoomakethhu</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pymodbus</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3.11.3,» [Internett]. </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Available: https://pypi.org/project/pymodbus/. </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Found</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18 November 2025].</a:t>
                      </a:r>
                    </a:p>
                  </a:txBody>
                  <a:tcPr marL="9525" marR="9525" marT="9525" marB="9525">
                    <a:lnL>
                      <a:noFill/>
                    </a:lnL>
                    <a:lnR>
                      <a:noFill/>
                    </a:lnR>
                    <a:lnT>
                      <a:noFill/>
                    </a:lnT>
                    <a:lnB>
                      <a:noFill/>
                    </a:lnB>
                    <a:noFill/>
                  </a:tcPr>
                </a:tc>
                <a:extLst>
                  <a:ext uri="{0D108BD9-81ED-4DB2-BD59-A6C34878D82A}">
                    <a16:rowId xmlns:a16="http://schemas.microsoft.com/office/drawing/2014/main" val="3541273645"/>
                  </a:ext>
                </a:extLst>
              </a:tr>
              <a:tr h="779806">
                <a:tc>
                  <a:txBody>
                    <a:bodyPr/>
                    <a:lstStyle/>
                    <a:p>
                      <a:pPr>
                        <a:lnSpc>
                          <a:spcPct val="115000"/>
                        </a:lnSpc>
                        <a:spcAft>
                          <a:spcPts val="800"/>
                        </a:spcAft>
                        <a:buNone/>
                      </a:pPr>
                      <a:r>
                        <a:rPr lang="nb-NO" sz="1200" kern="100">
                          <a:effectLst/>
                          <a:latin typeface="Aptos" panose="020B0004020202020204" pitchFamily="34" charset="0"/>
                          <a:ea typeface="Aptos" panose="020B0004020202020204" pitchFamily="34" charset="0"/>
                          <a:cs typeface="Times New Roman" panose="02020603050405020304" pitchFamily="18" charset="0"/>
                        </a:rPr>
                        <a:t>[4] </a:t>
                      </a:r>
                    </a:p>
                  </a:txBody>
                  <a:tcPr marL="9525" marR="9525" marT="9525" marB="9525">
                    <a:lnL>
                      <a:noFill/>
                    </a:lnL>
                    <a:lnR>
                      <a:noFill/>
                    </a:lnR>
                    <a:lnT>
                      <a:noFill/>
                    </a:lnT>
                    <a:lnB>
                      <a:noFill/>
                    </a:lnB>
                    <a:noFill/>
                  </a:tcPr>
                </a:tc>
                <a:tc>
                  <a:txBody>
                    <a:bodyPr/>
                    <a:lstStyle/>
                    <a:p>
                      <a:pP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S. Andrews,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quickstart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nosql</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-python,» 11 November 2024. </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[Internett]. </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Available</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https://github.com/AzureCosmosDB/quickstart-nosql-python. [</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Found</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21 November 2025].</a:t>
                      </a:r>
                    </a:p>
                  </a:txBody>
                  <a:tcPr marL="9525" marR="9525" marT="9525" marB="9525">
                    <a:lnL>
                      <a:noFill/>
                    </a:lnL>
                    <a:lnR>
                      <a:noFill/>
                    </a:lnR>
                    <a:lnT>
                      <a:noFill/>
                    </a:lnT>
                    <a:lnB>
                      <a:noFill/>
                    </a:lnB>
                    <a:noFill/>
                  </a:tcPr>
                </a:tc>
                <a:extLst>
                  <a:ext uri="{0D108BD9-81ED-4DB2-BD59-A6C34878D82A}">
                    <a16:rowId xmlns:a16="http://schemas.microsoft.com/office/drawing/2014/main" val="1534932227"/>
                  </a:ext>
                </a:extLst>
              </a:tr>
              <a:tr h="548708">
                <a:tc>
                  <a:txBody>
                    <a:bodyPr/>
                    <a:lstStyle/>
                    <a:p>
                      <a:pPr>
                        <a:lnSpc>
                          <a:spcPct val="115000"/>
                        </a:lnSpc>
                        <a:spcAft>
                          <a:spcPts val="800"/>
                        </a:spcAft>
                        <a:buNone/>
                      </a:pPr>
                      <a:r>
                        <a:rPr lang="nb-NO" sz="1200" kern="100">
                          <a:effectLst/>
                          <a:latin typeface="Aptos" panose="020B0004020202020204" pitchFamily="34" charset="0"/>
                          <a:ea typeface="Aptos" panose="020B0004020202020204" pitchFamily="34" charset="0"/>
                          <a:cs typeface="Times New Roman" panose="02020603050405020304" pitchFamily="18" charset="0"/>
                        </a:rPr>
                        <a:t>[5] </a:t>
                      </a:r>
                    </a:p>
                  </a:txBody>
                  <a:tcPr marL="9525" marR="9525" marT="9525" marB="9525">
                    <a:lnL>
                      <a:noFill/>
                    </a:lnL>
                    <a:lnR>
                      <a:noFill/>
                    </a:lnR>
                    <a:lnT>
                      <a:noFill/>
                    </a:lnT>
                    <a:lnB>
                      <a:noFill/>
                    </a:lnB>
                    <a:noFill/>
                  </a:tcPr>
                </a:tc>
                <a:tc>
                  <a:txBody>
                    <a:bodyPr/>
                    <a:lstStyle/>
                    <a:p>
                      <a:pPr>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OpenAI, «ChatGPT,» 7 August 2025.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Internett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Available: https://chatgpt.com/share/69230fc6-b9e8-8011-b260-8d685b5c58f5. </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a:t>
                      </a:r>
                      <a:r>
                        <a:rPr lang="nb-NO" sz="1200" kern="100" dirty="0" err="1">
                          <a:effectLst/>
                          <a:latin typeface="Aptos" panose="020B0004020202020204" pitchFamily="34" charset="0"/>
                          <a:ea typeface="Aptos" panose="020B0004020202020204" pitchFamily="34" charset="0"/>
                          <a:cs typeface="Times New Roman" panose="02020603050405020304" pitchFamily="18" charset="0"/>
                        </a:rPr>
                        <a:t>Found</a:t>
                      </a:r>
                      <a:r>
                        <a:rPr lang="nb-NO" sz="1200" kern="100" dirty="0">
                          <a:effectLst/>
                          <a:latin typeface="Aptos" panose="020B0004020202020204" pitchFamily="34" charset="0"/>
                          <a:ea typeface="Aptos" panose="020B0004020202020204" pitchFamily="34" charset="0"/>
                          <a:cs typeface="Times New Roman" panose="02020603050405020304" pitchFamily="18" charset="0"/>
                        </a:rPr>
                        <a:t> 22 November 2025].</a:t>
                      </a:r>
                    </a:p>
                  </a:txBody>
                  <a:tcPr marL="9525" marR="9525" marT="9525" marB="9525">
                    <a:lnL>
                      <a:noFill/>
                    </a:lnL>
                    <a:lnR>
                      <a:noFill/>
                    </a:lnR>
                    <a:lnT>
                      <a:noFill/>
                    </a:lnT>
                    <a:lnB>
                      <a:noFill/>
                    </a:lnB>
                    <a:noFill/>
                  </a:tcPr>
                </a:tc>
                <a:extLst>
                  <a:ext uri="{0D108BD9-81ED-4DB2-BD59-A6C34878D82A}">
                    <a16:rowId xmlns:a16="http://schemas.microsoft.com/office/drawing/2014/main" val="102257304"/>
                  </a:ext>
                </a:extLst>
              </a:tr>
            </a:tbl>
          </a:graphicData>
        </a:graphic>
      </p:graphicFrame>
    </p:spTree>
    <p:extLst>
      <p:ext uri="{BB962C8B-B14F-4D97-AF65-F5344CB8AC3E}">
        <p14:creationId xmlns:p14="http://schemas.microsoft.com/office/powerpoint/2010/main" val="2199586278"/>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TotalTime>
  <Words>539</Words>
  <Application>Microsoft Office PowerPoint</Application>
  <PresentationFormat>Widescreen</PresentationFormat>
  <Paragraphs>59</Paragraphs>
  <Slides>11</Slides>
  <Notes>0</Notes>
  <HiddenSlides>0</HiddenSlides>
  <MMClips>0</MMClips>
  <ScaleCrop>false</ScaleCrop>
  <HeadingPairs>
    <vt:vector size="6" baseType="variant">
      <vt:variant>
        <vt:lpstr>Brukte skrifter</vt:lpstr>
      </vt:variant>
      <vt:variant>
        <vt:i4>4</vt:i4>
      </vt:variant>
      <vt:variant>
        <vt:lpstr>Tema</vt:lpstr>
      </vt:variant>
      <vt:variant>
        <vt:i4>1</vt:i4>
      </vt:variant>
      <vt:variant>
        <vt:lpstr>Lysbildetitler</vt:lpstr>
      </vt:variant>
      <vt:variant>
        <vt:i4>11</vt:i4>
      </vt:variant>
    </vt:vector>
  </HeadingPairs>
  <TitlesOfParts>
    <vt:vector size="16" baseType="lpstr">
      <vt:lpstr>Aptos</vt:lpstr>
      <vt:lpstr>Aptos Display</vt:lpstr>
      <vt:lpstr>Arial</vt:lpstr>
      <vt:lpstr>Calibri</vt:lpstr>
      <vt:lpstr>Office-tema</vt:lpstr>
      <vt:lpstr>Air Heater Control System, Datalogger and Visualiser</vt:lpstr>
      <vt:lpstr>Requirements</vt:lpstr>
      <vt:lpstr>System Overview</vt:lpstr>
      <vt:lpstr>Control System</vt:lpstr>
      <vt:lpstr>Modbus TCP</vt:lpstr>
      <vt:lpstr>Cosmos DB</vt:lpstr>
      <vt:lpstr>Web App</vt:lpstr>
      <vt:lpstr>Code view</vt:lpstr>
      <vt:lpstr>Live Demonstration</vt:lpstr>
      <vt:lpstr>Discussing Bugs, Problems and the Future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Torstein Solheim Ølberg</dc:creator>
  <cp:lastModifiedBy>Torstein Solheim Ølberg</cp:lastModifiedBy>
  <cp:revision>10</cp:revision>
  <dcterms:created xsi:type="dcterms:W3CDTF">2025-11-17T10:12:29Z</dcterms:created>
  <dcterms:modified xsi:type="dcterms:W3CDTF">2025-11-23T15:55:13Z</dcterms:modified>
</cp:coreProperties>
</file>